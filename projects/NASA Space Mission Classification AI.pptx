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sv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sv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sv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sv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svg"/><Relationship Id="rId29" Type="http://schemas.openxmlformats.org/officeDocument/2006/relationships/image" Target="../media/image-10-29.png"/><Relationship Id="rId30" Type="http://schemas.openxmlformats.org/officeDocument/2006/relationships/image" Target="../media/image-10-30.svg"/><Relationship Id="rId31" Type="http://schemas.openxmlformats.org/officeDocument/2006/relationships/image" Target="../media/image-10-31.png"/><Relationship Id="rId32" Type="http://schemas.openxmlformats.org/officeDocument/2006/relationships/image" Target="../media/image-10-32.svg"/><Relationship Id="rId33" Type="http://schemas.openxmlformats.org/officeDocument/2006/relationships/image" Target="../media/image-10-33.png"/><Relationship Id="rId34" Type="http://schemas.openxmlformats.org/officeDocument/2006/relationships/image" Target="../media/image-10-34.svg"/><Relationship Id="rId35" Type="http://schemas.openxmlformats.org/officeDocument/2006/relationships/image" Target="../media/image-10-35.png"/><Relationship Id="rId36" Type="http://schemas.openxmlformats.org/officeDocument/2006/relationships/image" Target="../media/image-10-36.svg"/><Relationship Id="rId37" Type="http://schemas.openxmlformats.org/officeDocument/2006/relationships/image" Target="../media/image-10-37.png"/><Relationship Id="rId38" Type="http://schemas.openxmlformats.org/officeDocument/2006/relationships/image" Target="../media/image-10-38.sv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161" y="411361"/>
            <a:ext cx="13841" cy="13841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00400" y="771525"/>
            <a:ext cx="10120" cy="1012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3490" y="257175"/>
            <a:ext cx="13841" cy="13841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83561" y="1131540"/>
            <a:ext cx="7590" cy="759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46690" y="514350"/>
            <a:ext cx="17711" cy="17711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645890"/>
            <a:ext cx="10120" cy="1012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45890" y="2314575"/>
            <a:ext cx="7590" cy="759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490" y="2828925"/>
            <a:ext cx="13841" cy="13841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86000" y="3497461"/>
            <a:ext cx="7590" cy="759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40361" y="3857625"/>
            <a:ext cx="10120" cy="1012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43600" y="4217640"/>
            <a:ext cx="13841" cy="13841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15200" y="4629150"/>
            <a:ext cx="7590" cy="759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71600" y="4526161"/>
            <a:ext cx="13841" cy="13841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412361" y="2057400"/>
            <a:ext cx="10120" cy="10120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32290" y="3086100"/>
            <a:ext cx="7590" cy="759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0" y="1440061"/>
            <a:ext cx="13841" cy="13841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29200" y="2571750"/>
            <a:ext cx="10120" cy="1012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686800" y="925711"/>
            <a:ext cx="7590" cy="759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9600" y="3703290"/>
            <a:ext cx="13841" cy="13841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669161" y="1800225"/>
            <a:ext cx="7590" cy="759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389090" y="4886325"/>
            <a:ext cx="10120" cy="1012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32290" y="154186"/>
            <a:ext cx="13841" cy="13841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74690" y="3188940"/>
            <a:ext cx="7590" cy="759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00800" y="2468761"/>
            <a:ext cx="10120" cy="101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11539" y="659755"/>
            <a:ext cx="3000970" cy="3000970"/>
          </a:xfrm>
          <a:prstGeom prst="ellipse">
            <a:avLst/>
          </a:prstGeom>
          <a:gradFill rotWithShape="1">
            <a:gsLst>
              <a:gs pos="0">
                <a:srgbClr val="38BDF8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642920" y="1785640"/>
            <a:ext cx="1501080" cy="1572220"/>
          </a:xfrm>
          <a:prstGeom prst="ellipse">
            <a:avLst/>
          </a:prstGeom>
          <a:noFill/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357170" y="1499890"/>
            <a:ext cx="1786830" cy="2143720"/>
          </a:xfrm>
          <a:prstGeom prst="ellipse">
            <a:avLst/>
          </a:prstGeom>
          <a:noFill/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071420" y="1214140"/>
            <a:ext cx="2072580" cy="2715220"/>
          </a:xfrm>
          <a:prstGeom prst="ellipse">
            <a:avLst/>
          </a:prstGeom>
          <a:noFill/>
          <a:ln w="9525">
            <a:solidFill>
              <a:srgbClr val="38BDF8">
                <a:alpha val="4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7561" y="2250281"/>
            <a:ext cx="642938" cy="64293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85800" y="1509564"/>
            <a:ext cx="1795016" cy="268813"/>
          </a:xfrm>
          <a:prstGeom prst="roundRect">
            <a:avLst>
              <a:gd name="adj" fmla="val 53387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Learning Project</a:t>
            </a:r>
            <a:endParaRPr lang="en-US" sz="73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0910" y="1565383"/>
            <a:ext cx="132588" cy="13258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85800" y="1954560"/>
            <a:ext cx="4954905" cy="859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3"/>
              </a:lnSpc>
              <a:spcAft>
                <a:spcPts val="680"/>
              </a:spcAft>
              <a:buNone/>
            </a:pPr>
            <a:r>
              <a:rPr lang="en-US" sz="2930" spc="-30" kern="0" dirty="0">
                <a:solidFill>
                  <a:srgbClr val="E8EDF4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NASA Space Mission</a:t>
            </a:r>
            <a:br/>
            <a:pPr algn="l" indent="0" marL="0">
              <a:lnSpc>
                <a:spcPts val="3223"/>
              </a:lnSpc>
              <a:spcAft>
                <a:spcPts val="680"/>
              </a:spcAft>
              <a:buNone/>
            </a:pPr>
            <a:r>
              <a:rPr lang="en-US" sz="2930" spc="-30" kern="0" dirty="0">
                <a:solidFill>
                  <a:srgbClr val="E8EDF4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 </a:t>
            </a:r>
            <a:pPr algn="l" indent="0" marL="0">
              <a:lnSpc>
                <a:spcPts val="3223"/>
              </a:lnSpc>
              <a:spcAft>
                <a:spcPts val="680"/>
              </a:spcAft>
              <a:buNone/>
            </a:pPr>
            <a:r>
              <a:rPr lang="en-US" sz="2930" b="1" spc="-30" kern="0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Classification AI</a:t>
            </a:r>
            <a:endParaRPr lang="en-US" sz="2930" dirty="0"/>
          </a:p>
        </p:txBody>
      </p:sp>
      <p:sp>
        <p:nvSpPr>
          <p:cNvPr id="36" name="Text 32"/>
          <p:cNvSpPr/>
          <p:nvPr/>
        </p:nvSpPr>
        <p:spPr>
          <a:xfrm>
            <a:off x="685800" y="3002905"/>
            <a:ext cx="45720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685800" y="3203525"/>
            <a:ext cx="4080510" cy="451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130" spc="30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Track — Machine Learning with</a:t>
            </a:r>
            <a:br/>
            <a:pPr algn="l" indent="0" marL="0">
              <a:lnSpc>
                <a:spcPts val="1695"/>
              </a:lnSpc>
              <a:buNone/>
            </a:pPr>
            <a:r>
              <a:rPr lang="en-US" sz="1130" spc="30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RandomForestClassifier</a:t>
            </a:r>
            <a:endParaRPr lang="en-US" sz="1130" dirty="0"/>
          </a:p>
        </p:txBody>
      </p:sp>
      <p:sp>
        <p:nvSpPr>
          <p:cNvPr id="38" name="Text 34"/>
          <p:cNvSpPr/>
          <p:nvPr/>
        </p:nvSpPr>
        <p:spPr>
          <a:xfrm>
            <a:off x="685800" y="4697760"/>
            <a:ext cx="149091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spc="110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AIMA  |  SPRING 2026</a:t>
            </a:r>
            <a:endParaRPr lang="en-US" sz="84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8105" y="4711461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5695" y="0"/>
            <a:ext cx="9525" cy="5143500"/>
          </a:xfrm>
          <a:prstGeom prst="rect">
            <a:avLst/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0988" y="1499890"/>
            <a:ext cx="2143720" cy="2143720"/>
          </a:xfrm>
          <a:prstGeom prst="ellipse">
            <a:avLst/>
          </a:prstGeom>
          <a:gradFill rotWithShape="1">
            <a:gsLst>
              <a:gs pos="0">
                <a:srgbClr val="38BDF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9469" y="4669566"/>
            <a:ext cx="132588" cy="132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5775" y="4671120"/>
            <a:ext cx="49538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Sections</a:t>
            </a:r>
            <a:endParaRPr lang="en-US" sz="680" dirty="0"/>
          </a:p>
        </p:txBody>
      </p:sp>
      <p:sp>
        <p:nvSpPr>
          <p:cNvPr id="6" name="Text 3"/>
          <p:cNvSpPr/>
          <p:nvPr/>
        </p:nvSpPr>
        <p:spPr>
          <a:xfrm>
            <a:off x="3516511" y="768548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9102" y="831140"/>
            <a:ext cx="132588" cy="132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17752" y="806053"/>
            <a:ext cx="190952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960" dirty="0"/>
          </a:p>
        </p:txBody>
      </p:sp>
      <p:sp>
        <p:nvSpPr>
          <p:cNvPr id="9" name="Text 5"/>
          <p:cNvSpPr/>
          <p:nvPr/>
        </p:nvSpPr>
        <p:spPr>
          <a:xfrm>
            <a:off x="3516511" y="1140619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79102" y="1203210"/>
            <a:ext cx="132588" cy="132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17752" y="1178123"/>
            <a:ext cx="107967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960" dirty="0"/>
          </a:p>
        </p:txBody>
      </p:sp>
      <p:sp>
        <p:nvSpPr>
          <p:cNvPr id="12" name="Text 7"/>
          <p:cNvSpPr/>
          <p:nvPr/>
        </p:nvSpPr>
        <p:spPr>
          <a:xfrm>
            <a:off x="3516511" y="1512689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79102" y="1575280"/>
            <a:ext cx="132588" cy="132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917752" y="1550194"/>
            <a:ext cx="1195581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Description</a:t>
            </a:r>
            <a:endParaRPr lang="en-US" sz="960" dirty="0"/>
          </a:p>
        </p:txBody>
      </p:sp>
      <p:sp>
        <p:nvSpPr>
          <p:cNvPr id="15" name="Text 9"/>
          <p:cNvSpPr/>
          <p:nvPr/>
        </p:nvSpPr>
        <p:spPr>
          <a:xfrm>
            <a:off x="3516511" y="1884759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79102" y="1947351"/>
            <a:ext cx="132588" cy="132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917752" y="1922264"/>
            <a:ext cx="172813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960" dirty="0"/>
          </a:p>
        </p:txBody>
      </p:sp>
      <p:sp>
        <p:nvSpPr>
          <p:cNvPr id="18" name="Text 11"/>
          <p:cNvSpPr/>
          <p:nvPr/>
        </p:nvSpPr>
        <p:spPr>
          <a:xfrm>
            <a:off x="3516511" y="2256830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79102" y="2319421"/>
            <a:ext cx="132588" cy="132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917752" y="2294334"/>
            <a:ext cx="225004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RandomForest</a:t>
            </a:r>
            <a:endParaRPr lang="en-US" sz="960" dirty="0"/>
          </a:p>
        </p:txBody>
      </p:sp>
      <p:sp>
        <p:nvSpPr>
          <p:cNvPr id="21" name="Text 13"/>
          <p:cNvSpPr/>
          <p:nvPr/>
        </p:nvSpPr>
        <p:spPr>
          <a:xfrm>
            <a:off x="3516511" y="2628900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79102" y="2691491"/>
            <a:ext cx="132588" cy="13258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917752" y="2666405"/>
            <a:ext cx="14293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Code</a:t>
            </a:r>
            <a:endParaRPr lang="en-US" sz="960" dirty="0"/>
          </a:p>
        </p:txBody>
      </p:sp>
      <p:sp>
        <p:nvSpPr>
          <p:cNvPr id="24" name="Text 15"/>
          <p:cNvSpPr/>
          <p:nvPr/>
        </p:nvSpPr>
        <p:spPr>
          <a:xfrm>
            <a:off x="3516511" y="3000970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79102" y="3063561"/>
            <a:ext cx="132588" cy="13258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917752" y="3038475"/>
            <a:ext cx="172043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Accuracy Analysis</a:t>
            </a:r>
            <a:endParaRPr lang="en-US" sz="960" dirty="0"/>
          </a:p>
        </p:txBody>
      </p:sp>
      <p:sp>
        <p:nvSpPr>
          <p:cNvPr id="27" name="Text 17"/>
          <p:cNvSpPr/>
          <p:nvPr/>
        </p:nvSpPr>
        <p:spPr>
          <a:xfrm>
            <a:off x="3516511" y="3373041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79102" y="3435632"/>
            <a:ext cx="132588" cy="13258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3917752" y="3410545"/>
            <a:ext cx="102745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960" dirty="0"/>
          </a:p>
        </p:txBody>
      </p:sp>
      <p:sp>
        <p:nvSpPr>
          <p:cNvPr id="30" name="Text 19"/>
          <p:cNvSpPr/>
          <p:nvPr/>
        </p:nvSpPr>
        <p:spPr>
          <a:xfrm>
            <a:off x="3516511" y="3745111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79102" y="3807702"/>
            <a:ext cx="132588" cy="13258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917752" y="3782616"/>
            <a:ext cx="946577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60" dirty="0"/>
          </a:p>
        </p:txBody>
      </p:sp>
      <p:sp>
        <p:nvSpPr>
          <p:cNvPr id="33" name="Text 21"/>
          <p:cNvSpPr/>
          <p:nvPr/>
        </p:nvSpPr>
        <p:spPr>
          <a:xfrm>
            <a:off x="3516511" y="4117181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579102" y="4179772"/>
            <a:ext cx="132588" cy="132588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3917752" y="4154686"/>
            <a:ext cx="7499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60" dirty="0"/>
          </a:p>
        </p:txBody>
      </p:sp>
      <p:sp>
        <p:nvSpPr>
          <p:cNvPr id="36" name="Text 23"/>
          <p:cNvSpPr/>
          <p:nvPr/>
        </p:nvSpPr>
        <p:spPr>
          <a:xfrm>
            <a:off x="8413849" y="22860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4"/>
          <p:cNvSpPr/>
          <p:nvPr/>
        </p:nvSpPr>
        <p:spPr>
          <a:xfrm>
            <a:off x="8514159" y="22860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25"/>
          <p:cNvSpPr/>
          <p:nvPr/>
        </p:nvSpPr>
        <p:spPr>
          <a:xfrm>
            <a:off x="8614470" y="22860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26"/>
          <p:cNvSpPr/>
          <p:nvPr/>
        </p:nvSpPr>
        <p:spPr>
          <a:xfrm>
            <a:off x="8714780" y="22860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27"/>
          <p:cNvSpPr/>
          <p:nvPr/>
        </p:nvSpPr>
        <p:spPr>
          <a:xfrm>
            <a:off x="8815090" y="22860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28"/>
          <p:cNvSpPr/>
          <p:nvPr/>
        </p:nvSpPr>
        <p:spPr>
          <a:xfrm>
            <a:off x="8413849" y="32891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29"/>
          <p:cNvSpPr/>
          <p:nvPr/>
        </p:nvSpPr>
        <p:spPr>
          <a:xfrm>
            <a:off x="8514159" y="32891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0"/>
          <p:cNvSpPr/>
          <p:nvPr/>
        </p:nvSpPr>
        <p:spPr>
          <a:xfrm>
            <a:off x="8614470" y="32891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1"/>
          <p:cNvSpPr/>
          <p:nvPr/>
        </p:nvSpPr>
        <p:spPr>
          <a:xfrm>
            <a:off x="8714780" y="32891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2"/>
          <p:cNvSpPr/>
          <p:nvPr/>
        </p:nvSpPr>
        <p:spPr>
          <a:xfrm>
            <a:off x="8815090" y="32891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3"/>
          <p:cNvSpPr/>
          <p:nvPr/>
        </p:nvSpPr>
        <p:spPr>
          <a:xfrm>
            <a:off x="8413849" y="42922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4"/>
          <p:cNvSpPr/>
          <p:nvPr/>
        </p:nvSpPr>
        <p:spPr>
          <a:xfrm>
            <a:off x="8514159" y="42922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5"/>
          <p:cNvSpPr/>
          <p:nvPr/>
        </p:nvSpPr>
        <p:spPr>
          <a:xfrm>
            <a:off x="8614470" y="42922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36"/>
          <p:cNvSpPr/>
          <p:nvPr/>
        </p:nvSpPr>
        <p:spPr>
          <a:xfrm>
            <a:off x="8714780" y="42922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37"/>
          <p:cNvSpPr/>
          <p:nvPr/>
        </p:nvSpPr>
        <p:spPr>
          <a:xfrm>
            <a:off x="8815090" y="42922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38"/>
          <p:cNvSpPr/>
          <p:nvPr/>
        </p:nvSpPr>
        <p:spPr>
          <a:xfrm>
            <a:off x="3237161" y="969169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39"/>
          <p:cNvSpPr/>
          <p:nvPr/>
        </p:nvSpPr>
        <p:spPr>
          <a:xfrm>
            <a:off x="3237161" y="1341239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0"/>
          <p:cNvSpPr/>
          <p:nvPr/>
        </p:nvSpPr>
        <p:spPr>
          <a:xfrm>
            <a:off x="3237161" y="1713309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1"/>
          <p:cNvSpPr/>
          <p:nvPr/>
        </p:nvSpPr>
        <p:spPr>
          <a:xfrm>
            <a:off x="3237161" y="2085380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2"/>
          <p:cNvSpPr/>
          <p:nvPr/>
        </p:nvSpPr>
        <p:spPr>
          <a:xfrm>
            <a:off x="3237161" y="2457450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3"/>
          <p:cNvSpPr/>
          <p:nvPr/>
        </p:nvSpPr>
        <p:spPr>
          <a:xfrm>
            <a:off x="3237161" y="2829520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44"/>
          <p:cNvSpPr/>
          <p:nvPr/>
        </p:nvSpPr>
        <p:spPr>
          <a:xfrm>
            <a:off x="3237161" y="3201591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45"/>
          <p:cNvSpPr/>
          <p:nvPr/>
        </p:nvSpPr>
        <p:spPr>
          <a:xfrm>
            <a:off x="3237161" y="3573661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46"/>
          <p:cNvSpPr/>
          <p:nvPr/>
        </p:nvSpPr>
        <p:spPr>
          <a:xfrm>
            <a:off x="3237161" y="3945731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47"/>
          <p:cNvSpPr/>
          <p:nvPr/>
        </p:nvSpPr>
        <p:spPr>
          <a:xfrm>
            <a:off x="342900" y="1743373"/>
            <a:ext cx="222188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spcAft>
                <a:spcPts val="680"/>
              </a:spcAft>
              <a:buNone/>
            </a:pPr>
            <a:r>
              <a:rPr lang="en-US" sz="730" b="1" spc="17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30" dirty="0"/>
          </a:p>
        </p:txBody>
      </p:sp>
      <p:sp>
        <p:nvSpPr>
          <p:cNvPr id="61" name="Text 48"/>
          <p:cNvSpPr/>
          <p:nvPr/>
        </p:nvSpPr>
        <p:spPr>
          <a:xfrm>
            <a:off x="342900" y="1968698"/>
            <a:ext cx="2060293" cy="72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14"/>
              </a:lnSpc>
              <a:buNone/>
            </a:pPr>
            <a:r>
              <a:rPr lang="en-US" sz="2360" dirty="0">
                <a:solidFill>
                  <a:srgbClr val="E8EDF4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Project</a:t>
            </a:r>
            <a:br/>
            <a:pPr algn="l" indent="0" marL="0">
              <a:lnSpc>
                <a:spcPts val="2714"/>
              </a:lnSpc>
              <a:buNone/>
            </a:pPr>
            <a:r>
              <a:rPr lang="en-US" sz="2360" dirty="0">
                <a:solidFill>
                  <a:srgbClr val="E8EDF4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Roadmap</a:t>
            </a:r>
            <a:endParaRPr lang="en-US" sz="2360" dirty="0"/>
          </a:p>
        </p:txBody>
      </p:sp>
      <p:sp>
        <p:nvSpPr>
          <p:cNvPr id="62" name="Text 49"/>
          <p:cNvSpPr/>
          <p:nvPr/>
        </p:nvSpPr>
        <p:spPr>
          <a:xfrm>
            <a:off x="342900" y="2715220"/>
            <a:ext cx="34290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0"/>
          <p:cNvSpPr/>
          <p:nvPr/>
        </p:nvSpPr>
        <p:spPr>
          <a:xfrm>
            <a:off x="342900" y="2887861"/>
            <a:ext cx="2060293" cy="53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spcBef>
                <a:spcPts val="1130"/>
              </a:spcBef>
              <a:buNone/>
            </a:pPr>
            <a:r>
              <a:rPr lang="en-US" sz="84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walkthrough of the complete ML classification pipeline — from problem definition to future improvements.</a:t>
            </a:r>
            <a:endParaRPr lang="en-US" sz="840" dirty="0"/>
          </a:p>
        </p:txBody>
      </p:sp>
      <p:sp>
        <p:nvSpPr>
          <p:cNvPr id="64" name="Text 51"/>
          <p:cNvSpPr/>
          <p:nvPr/>
        </p:nvSpPr>
        <p:spPr>
          <a:xfrm>
            <a:off x="3115270" y="768548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01</a:t>
            </a:r>
            <a:endParaRPr lang="en-US" sz="840" dirty="0"/>
          </a:p>
        </p:txBody>
      </p:sp>
      <p:sp>
        <p:nvSpPr>
          <p:cNvPr id="65" name="Text 52"/>
          <p:cNvSpPr/>
          <p:nvPr/>
        </p:nvSpPr>
        <p:spPr>
          <a:xfrm>
            <a:off x="3115270" y="1140619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02</a:t>
            </a:r>
            <a:endParaRPr lang="en-US" sz="840" dirty="0"/>
          </a:p>
        </p:txBody>
      </p:sp>
      <p:sp>
        <p:nvSpPr>
          <p:cNvPr id="66" name="Text 53"/>
          <p:cNvSpPr/>
          <p:nvPr/>
        </p:nvSpPr>
        <p:spPr>
          <a:xfrm>
            <a:off x="3115270" y="1512689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03</a:t>
            </a:r>
            <a:endParaRPr lang="en-US" sz="840" dirty="0"/>
          </a:p>
        </p:txBody>
      </p:sp>
      <p:sp>
        <p:nvSpPr>
          <p:cNvPr id="67" name="Text 54"/>
          <p:cNvSpPr/>
          <p:nvPr/>
        </p:nvSpPr>
        <p:spPr>
          <a:xfrm>
            <a:off x="3115270" y="1884759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04</a:t>
            </a:r>
            <a:endParaRPr lang="en-US" sz="840" dirty="0"/>
          </a:p>
        </p:txBody>
      </p:sp>
      <p:sp>
        <p:nvSpPr>
          <p:cNvPr id="68" name="Text 55"/>
          <p:cNvSpPr/>
          <p:nvPr/>
        </p:nvSpPr>
        <p:spPr>
          <a:xfrm>
            <a:off x="3115270" y="2256830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05</a:t>
            </a:r>
            <a:endParaRPr lang="en-US" sz="840" dirty="0"/>
          </a:p>
        </p:txBody>
      </p:sp>
      <p:sp>
        <p:nvSpPr>
          <p:cNvPr id="69" name="Text 56"/>
          <p:cNvSpPr/>
          <p:nvPr/>
        </p:nvSpPr>
        <p:spPr>
          <a:xfrm>
            <a:off x="3115270" y="2628900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06</a:t>
            </a:r>
            <a:endParaRPr lang="en-US" sz="840" dirty="0"/>
          </a:p>
        </p:txBody>
      </p:sp>
      <p:sp>
        <p:nvSpPr>
          <p:cNvPr id="70" name="Text 57"/>
          <p:cNvSpPr/>
          <p:nvPr/>
        </p:nvSpPr>
        <p:spPr>
          <a:xfrm>
            <a:off x="3115270" y="3000970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07</a:t>
            </a:r>
            <a:endParaRPr lang="en-US" sz="840" dirty="0"/>
          </a:p>
        </p:txBody>
      </p:sp>
      <p:sp>
        <p:nvSpPr>
          <p:cNvPr id="71" name="Text 58"/>
          <p:cNvSpPr/>
          <p:nvPr/>
        </p:nvSpPr>
        <p:spPr>
          <a:xfrm>
            <a:off x="3115270" y="3373041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08</a:t>
            </a:r>
            <a:endParaRPr lang="en-US" sz="840" dirty="0"/>
          </a:p>
        </p:txBody>
      </p:sp>
      <p:sp>
        <p:nvSpPr>
          <p:cNvPr id="72" name="Text 59"/>
          <p:cNvSpPr/>
          <p:nvPr/>
        </p:nvSpPr>
        <p:spPr>
          <a:xfrm>
            <a:off x="3115270" y="3745111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09</a:t>
            </a:r>
            <a:endParaRPr lang="en-US" sz="840" dirty="0"/>
          </a:p>
        </p:txBody>
      </p:sp>
      <p:sp>
        <p:nvSpPr>
          <p:cNvPr id="73" name="Text 60"/>
          <p:cNvSpPr/>
          <p:nvPr/>
        </p:nvSpPr>
        <p:spPr>
          <a:xfrm>
            <a:off x="3115270" y="4117181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10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4818628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0"/>
              </a:lnSpc>
              <a:buNone/>
            </a:pPr>
            <a:r>
              <a:rPr lang="en-US" sz="2140" b="1" spc="-30" kern="0" dirty="0">
                <a:solidFill>
                  <a:srgbClr val="E8ED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 Statement &amp; Objective</a:t>
            </a:r>
            <a:endParaRPr lang="en-US" sz="2140" dirty="0"/>
          </a:p>
        </p:txBody>
      </p:sp>
      <p:sp>
        <p:nvSpPr>
          <p:cNvPr id="3" name="Text 1"/>
          <p:cNvSpPr/>
          <p:nvPr/>
        </p:nvSpPr>
        <p:spPr>
          <a:xfrm>
            <a:off x="457200" y="864840"/>
            <a:ext cx="34290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122611"/>
            <a:ext cx="4503390" cy="812146"/>
          </a:xfrm>
          <a:prstGeom prst="rect">
            <a:avLst/>
          </a:prstGeom>
          <a:solidFill>
            <a:srgbClr val="152238"/>
          </a:solidFill>
          <a:ln/>
        </p:spPr>
        <p:txBody>
          <a:bodyPr wrap="square" lIns="143510" tIns="114300" rIns="143510" bIns="114300" rtlCol="0" anchor="t"/>
          <a:lstStyle/>
          <a:p>
            <a:pPr algn="l" indent="0" marL="0">
              <a:buNone/>
            </a:pPr>
            <a:r>
              <a:rPr lang="en-US" sz="730" b="1" spc="8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pPr algn="l" indent="0" marL="0">
              <a:buNone/>
            </a:pPr>
            <a:endParaRPr lang="en-US" sz="73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classifier to categorize NASA space missions into their correct mission types based on mission attributes.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457200" y="1122611"/>
            <a:ext cx="19050" cy="788491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131963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0670" y="2082552"/>
            <a:ext cx="4447118" cy="383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missions into types: </a:t>
            </a:r>
            <a:pPr algn="l"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Flyby, Orbiter, Lander, Rover, Observatory, Communications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457200" y="2597795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0670" y="2548384"/>
            <a:ext cx="389026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a synthetic dataset with realistic NASA mission features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457200" y="2880866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0670" y="2831455"/>
            <a:ext cx="4255993" cy="188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supervised learning using scikit-learn </a:t>
            </a:r>
            <a:pPr algn="l" indent="0" marL="0">
              <a:lnSpc>
                <a:spcPts val="1440"/>
              </a:lnSpc>
              <a:buNone/>
            </a:pPr>
            <a:r>
              <a:rPr lang="en-US" sz="840" dirty="0">
                <a:solidFill>
                  <a:srgbClr val="E8EDF4"/>
                </a:solidFill>
                <a:highlight>
                  <a:srgbClr val="38BDF8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RandomForestClassifier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457200" y="3169741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0670" y="3120330"/>
            <a:ext cx="3405842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high accuracy for reliable mission type prediction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6640756" y="939105"/>
            <a:ext cx="87978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b="1" spc="70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6190388" y="1200596"/>
            <a:ext cx="877279" cy="272355"/>
          </a:xfrm>
          <a:prstGeom prst="roundRect">
            <a:avLst>
              <a:gd name="adj" fmla="val 20984"/>
            </a:avLst>
          </a:prstGeom>
          <a:solidFill>
            <a:srgbClr val="152238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7093626" y="1200596"/>
            <a:ext cx="877279" cy="272355"/>
          </a:xfrm>
          <a:prstGeom prst="roundRect">
            <a:avLst>
              <a:gd name="adj" fmla="val 20984"/>
            </a:avLst>
          </a:prstGeom>
          <a:solidFill>
            <a:srgbClr val="152238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Duration_Days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6190388" y="1516112"/>
            <a:ext cx="877279" cy="272355"/>
          </a:xfrm>
          <a:prstGeom prst="roundRect">
            <a:avLst>
              <a:gd name="adj" fmla="val 20984"/>
            </a:avLst>
          </a:prstGeom>
          <a:solidFill>
            <a:srgbClr val="152238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Crew_Size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7093626" y="1516112"/>
            <a:ext cx="877279" cy="272355"/>
          </a:xfrm>
          <a:prstGeom prst="roundRect">
            <a:avLst>
              <a:gd name="adj" fmla="val 20984"/>
            </a:avLst>
          </a:prstGeom>
          <a:solidFill>
            <a:srgbClr val="152238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Budget_Million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6649827" y="1831628"/>
            <a:ext cx="861492" cy="272355"/>
          </a:xfrm>
          <a:prstGeom prst="roundRect">
            <a:avLst>
              <a:gd name="adj" fmla="val 20984"/>
            </a:avLst>
          </a:prstGeom>
          <a:solidFill>
            <a:srgbClr val="152238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Success_Rate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7073652" y="2190304"/>
            <a:ext cx="13841" cy="12814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 rot="10800000">
            <a:off x="7042547" y="2318445"/>
            <a:ext cx="76200" cy="57150"/>
          </a:xfrm>
          <a:prstGeom prst="triangl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80547" y="2461915"/>
            <a:ext cx="1600200" cy="657076"/>
          </a:xfrm>
          <a:prstGeom prst="roundRect">
            <a:avLst>
              <a:gd name="adj" fmla="val 13143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32922" y="2414290"/>
            <a:ext cx="1695450" cy="752326"/>
          </a:xfrm>
          <a:prstGeom prst="roundRect">
            <a:avLst>
              <a:gd name="adj" fmla="val 17050"/>
            </a:avLst>
          </a:prstGeom>
          <a:noFill/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16672" y="2724085"/>
            <a:ext cx="132588" cy="13258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672032" y="2614910"/>
            <a:ext cx="101680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10" dirty="0"/>
          </a:p>
        </p:txBody>
      </p:sp>
      <p:sp>
        <p:nvSpPr>
          <p:cNvPr id="26" name="Text 23"/>
          <p:cNvSpPr/>
          <p:nvPr/>
        </p:nvSpPr>
        <p:spPr>
          <a:xfrm>
            <a:off x="6672032" y="2836515"/>
            <a:ext cx="101680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7073652" y="3205311"/>
            <a:ext cx="13841" cy="12814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 rot="10800000">
            <a:off x="7042547" y="3333452"/>
            <a:ext cx="76200" cy="57150"/>
          </a:xfrm>
          <a:prstGeom prst="triangl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914281" y="3476923"/>
            <a:ext cx="2332881" cy="522982"/>
          </a:xfrm>
          <a:prstGeom prst="roundRect">
            <a:avLst>
              <a:gd name="adj" fmla="val 13599"/>
            </a:avLst>
          </a:prstGeom>
          <a:gradFill rotWithShape="1">
            <a:gsLst>
              <a:gs pos="0">
                <a:srgbClr val="38BDF8">
                  <a:alpha val="25000"/>
                </a:srgbClr>
              </a:gs>
              <a:gs pos="100000">
                <a:srgbClr val="38BDF8">
                  <a:alpha val="8000"/>
                </a:srgbClr>
              </a:gs>
            </a:gsLst>
            <a:lin ang="2700000" scaled="1"/>
          </a:gradFill>
          <a:ln w="9525">
            <a:solidFill>
              <a:srgbClr val="38BDF8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8069" y="3606114"/>
            <a:ext cx="132588" cy="13258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769537" y="3586758"/>
            <a:ext cx="7871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Type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028797" y="3772049"/>
            <a:ext cx="210384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Flyby · Orbiter · Lander · Rover · Observatory · Comm.</a:t>
            </a:r>
            <a:endParaRPr lang="en-US" sz="620" dirty="0"/>
          </a:p>
        </p:txBody>
      </p:sp>
      <p:sp>
        <p:nvSpPr>
          <p:cNvPr id="33" name="Text 29"/>
          <p:cNvSpPr/>
          <p:nvPr/>
        </p:nvSpPr>
        <p:spPr>
          <a:xfrm>
            <a:off x="6443975" y="4143375"/>
            <a:ext cx="127334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i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classification pipeline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3771"/>
            <a:ext cx="35421" cy="285750"/>
          </a:xfrm>
          <a:prstGeom prst="roundRect">
            <a:avLst>
              <a:gd name="adj" fmla="val 60953"/>
            </a:avLst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6921" y="342900"/>
            <a:ext cx="3706134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0"/>
              </a:lnSpc>
              <a:buNone/>
            </a:pPr>
            <a:r>
              <a:rPr lang="en-US" sz="2140" b="1" spc="-30" kern="0" dirty="0">
                <a:solidFill>
                  <a:srgbClr val="E8EDF4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Synthetic Dataset Overview</a:t>
            </a:r>
            <a:endParaRPr lang="en-US" sz="21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42048" y="460921"/>
            <a:ext cx="171450" cy="171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6921" y="836861"/>
            <a:ext cx="888786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rows from the NASA space mission training dataset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457200" y="1197471"/>
            <a:ext cx="8229600" cy="3603129"/>
          </a:xfrm>
          <a:prstGeom prst="roundRect">
            <a:avLst>
              <a:gd name="adj" fmla="val 2397"/>
            </a:avLst>
          </a:prstGeom>
          <a:solidFill>
            <a:srgbClr val="152238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66725" y="1206996"/>
            <a:ext cx="304354" cy="347663"/>
          </a:xfrm>
          <a:prstGeom prst="rect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6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66725" y="1545134"/>
            <a:ext cx="304354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71079" y="1206996"/>
            <a:ext cx="1196373" cy="347663"/>
          </a:xfrm>
          <a:prstGeom prst="rect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6000"/>
                </a:srgbClr>
              </a:gs>
            </a:gsLst>
            <a:lin ang="2700000" scaled="1"/>
          </a:gradFill>
          <a:ln/>
        </p:spPr>
        <p:txBody>
          <a:bodyPr wrap="none" lIns="128270" tIns="114300" rIns="128270" bIns="114300" rtlCol="0" anchor="t"/>
          <a:lstStyle/>
          <a:p>
            <a:pPr algn="l" indent="0" marL="0">
              <a:buNone/>
            </a:pPr>
            <a:r>
              <a:rPr lang="en-US" sz="790" b="1" spc="50" kern="0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MISSION_NAME</a:t>
            </a:r>
            <a:endParaRPr lang="en-US" sz="790" dirty="0"/>
          </a:p>
        </p:txBody>
      </p:sp>
      <p:sp>
        <p:nvSpPr>
          <p:cNvPr id="10" name="Text 7"/>
          <p:cNvSpPr/>
          <p:nvPr/>
        </p:nvSpPr>
        <p:spPr>
          <a:xfrm>
            <a:off x="771079" y="1545134"/>
            <a:ext cx="1172914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943993" y="1206996"/>
            <a:ext cx="1079028" cy="347663"/>
          </a:xfrm>
          <a:prstGeom prst="rect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6000"/>
                </a:srgbClr>
              </a:gs>
            </a:gsLst>
            <a:lin ang="2700000" scaled="1"/>
          </a:gradFill>
          <a:ln/>
        </p:spPr>
        <p:txBody>
          <a:bodyPr wrap="none" lIns="128270" tIns="114300" rIns="128270" bIns="114300" rtlCol="0" anchor="t"/>
          <a:lstStyle/>
          <a:p>
            <a:pPr algn="l" indent="0" marL="0">
              <a:buNone/>
            </a:pPr>
            <a:r>
              <a:rPr lang="en-US" sz="790" b="1" spc="50" kern="0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DESTINATION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1943993" y="1545134"/>
            <a:ext cx="1057870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976735" y="1206996"/>
            <a:ext cx="1281535" cy="347663"/>
          </a:xfrm>
          <a:prstGeom prst="rect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6000"/>
                </a:srgbClr>
              </a:gs>
            </a:gsLst>
            <a:lin ang="2700000" scaled="1"/>
          </a:gradFill>
          <a:ln/>
        </p:spPr>
        <p:txBody>
          <a:bodyPr wrap="none" lIns="128270" tIns="114300" rIns="128270" bIns="114300" rtlCol="0" anchor="t"/>
          <a:lstStyle/>
          <a:p>
            <a:pPr algn="r" indent="0" marL="0">
              <a:buNone/>
            </a:pPr>
            <a:r>
              <a:rPr lang="en-US" sz="790" b="1" spc="50" kern="0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DURATION_DAYS</a:t>
            </a:r>
            <a:endParaRPr lang="en-US" sz="790" dirty="0"/>
          </a:p>
        </p:txBody>
      </p:sp>
      <p:sp>
        <p:nvSpPr>
          <p:cNvPr id="14" name="Text 11"/>
          <p:cNvSpPr/>
          <p:nvPr/>
        </p:nvSpPr>
        <p:spPr>
          <a:xfrm>
            <a:off x="3001863" y="1545134"/>
            <a:ext cx="1256407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239229" y="1206996"/>
            <a:ext cx="971095" cy="347663"/>
          </a:xfrm>
          <a:prstGeom prst="rect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6000"/>
                </a:srgbClr>
              </a:gs>
            </a:gsLst>
            <a:lin ang="2700000" scaled="1"/>
          </a:gradFill>
          <a:ln/>
        </p:spPr>
        <p:txBody>
          <a:bodyPr wrap="none" lIns="128270" tIns="114300" rIns="128270" bIns="114300" rtlCol="0" anchor="t"/>
          <a:lstStyle/>
          <a:p>
            <a:pPr algn="r" indent="0" marL="0">
              <a:buNone/>
            </a:pPr>
            <a:r>
              <a:rPr lang="en-US" sz="790" b="1" spc="50" kern="0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CREW_SIZE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4258270" y="1545134"/>
            <a:ext cx="952054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191893" y="1206996"/>
            <a:ext cx="939975" cy="347663"/>
          </a:xfrm>
          <a:prstGeom prst="rect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6000"/>
                </a:srgbClr>
              </a:gs>
            </a:gsLst>
            <a:lin ang="2700000" scaled="1"/>
          </a:gradFill>
          <a:ln/>
        </p:spPr>
        <p:txBody>
          <a:bodyPr wrap="none" lIns="128270" tIns="114300" rIns="128270" bIns="114300" rtlCol="0" anchor="t"/>
          <a:lstStyle/>
          <a:p>
            <a:pPr algn="r" indent="0" marL="0">
              <a:buNone/>
            </a:pPr>
            <a:r>
              <a:rPr lang="en-US" sz="790" b="1" spc="50" kern="0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BUDGET_M</a:t>
            </a:r>
            <a:endParaRPr lang="en-US" sz="790" dirty="0"/>
          </a:p>
        </p:txBody>
      </p:sp>
      <p:sp>
        <p:nvSpPr>
          <p:cNvPr id="18" name="Text 15"/>
          <p:cNvSpPr/>
          <p:nvPr/>
        </p:nvSpPr>
        <p:spPr>
          <a:xfrm>
            <a:off x="5210324" y="1545134"/>
            <a:ext cx="921544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131868" y="1206996"/>
            <a:ext cx="1230377" cy="347663"/>
          </a:xfrm>
          <a:prstGeom prst="rect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6000"/>
                </a:srgbClr>
              </a:gs>
            </a:gsLst>
            <a:lin ang="2700000" scaled="1"/>
          </a:gradFill>
          <a:ln/>
        </p:spPr>
        <p:txBody>
          <a:bodyPr wrap="none" lIns="128270" tIns="114300" rIns="128270" bIns="114300" rtlCol="0" anchor="t"/>
          <a:lstStyle/>
          <a:p>
            <a:pPr algn="l" indent="0" marL="0">
              <a:buNone/>
            </a:pPr>
            <a:r>
              <a:rPr lang="en-US" sz="790" b="1" spc="50" kern="0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SUCCESS_RATE</a:t>
            </a:r>
            <a:endParaRPr lang="en-US" sz="790" dirty="0"/>
          </a:p>
        </p:txBody>
      </p:sp>
      <p:sp>
        <p:nvSpPr>
          <p:cNvPr id="20" name="Text 17"/>
          <p:cNvSpPr/>
          <p:nvPr/>
        </p:nvSpPr>
        <p:spPr>
          <a:xfrm>
            <a:off x="6131868" y="1545134"/>
            <a:ext cx="1206252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338120" y="1206996"/>
            <a:ext cx="1365939" cy="347663"/>
          </a:xfrm>
          <a:prstGeom prst="rect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6000"/>
                </a:srgbClr>
              </a:gs>
            </a:gsLst>
            <a:lin ang="2700000" scaled="1"/>
          </a:gradFill>
          <a:ln/>
        </p:spPr>
        <p:txBody>
          <a:bodyPr wrap="none" lIns="128270" tIns="114300" rIns="128270" bIns="114300" rtlCol="0" anchor="t"/>
          <a:lstStyle/>
          <a:p>
            <a:pPr algn="l" indent="0" marL="0">
              <a:buNone/>
            </a:pPr>
            <a:r>
              <a:rPr lang="en-US" sz="790" b="1" spc="50" kern="0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MISSION_TYPE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7338120" y="1545134"/>
            <a:ext cx="1339155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66725" y="1554659"/>
            <a:ext cx="304354" cy="404080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466725" y="1937445"/>
            <a:ext cx="3043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771079" y="1554659"/>
            <a:ext cx="1196373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Voyager_X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771079" y="1937445"/>
            <a:ext cx="117291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943993" y="1937445"/>
            <a:ext cx="1057870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976735" y="1554659"/>
            <a:ext cx="128153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4,380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3001863" y="1937445"/>
            <a:ext cx="1256407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239229" y="1554659"/>
            <a:ext cx="97109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4258270" y="1937445"/>
            <a:ext cx="9520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191893" y="1554659"/>
            <a:ext cx="93997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865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5210324" y="1937445"/>
            <a:ext cx="92154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131868" y="1937445"/>
            <a:ext cx="1206252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260009" y="1729234"/>
            <a:ext cx="342900" cy="43160"/>
          </a:xfrm>
          <a:prstGeom prst="roundRect">
            <a:avLst>
              <a:gd name="adj" fmla="val 50023"/>
            </a:avLst>
          </a:prstGeom>
          <a:solidFill>
            <a:srgbClr val="8B9BB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260009" y="1729234"/>
            <a:ext cx="315367" cy="43160"/>
          </a:xfrm>
          <a:prstGeom prst="roundRect">
            <a:avLst>
              <a:gd name="adj" fmla="val 50023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6660059" y="1693664"/>
            <a:ext cx="265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</a:t>
            </a:r>
            <a:endParaRPr lang="en-US" sz="790" dirty="0"/>
          </a:p>
        </p:txBody>
      </p:sp>
      <p:sp>
        <p:nvSpPr>
          <p:cNvPr id="38" name="Text 35"/>
          <p:cNvSpPr/>
          <p:nvPr/>
        </p:nvSpPr>
        <p:spPr>
          <a:xfrm>
            <a:off x="7338120" y="1937445"/>
            <a:ext cx="1339155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66725" y="1946970"/>
            <a:ext cx="8210550" cy="392311"/>
          </a:xfrm>
          <a:prstGeom prst="rect">
            <a:avLst/>
          </a:prstGeom>
          <a:solidFill>
            <a:srgbClr val="38BDF8">
              <a:alpha val="3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66725" y="1946970"/>
            <a:ext cx="304354" cy="404080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466725" y="2329755"/>
            <a:ext cx="3043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771079" y="1946970"/>
            <a:ext cx="1196373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Artemis_IV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771079" y="2329755"/>
            <a:ext cx="117291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1943993" y="2329755"/>
            <a:ext cx="1057870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2976735" y="1946970"/>
            <a:ext cx="128153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40" dirty="0"/>
          </a:p>
        </p:txBody>
      </p:sp>
      <p:sp>
        <p:nvSpPr>
          <p:cNvPr id="46" name="Text 43"/>
          <p:cNvSpPr/>
          <p:nvPr/>
        </p:nvSpPr>
        <p:spPr>
          <a:xfrm>
            <a:off x="3001863" y="2329755"/>
            <a:ext cx="1256407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4239229" y="1946970"/>
            <a:ext cx="97109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40" dirty="0"/>
          </a:p>
        </p:txBody>
      </p:sp>
      <p:sp>
        <p:nvSpPr>
          <p:cNvPr id="48" name="Text 45"/>
          <p:cNvSpPr/>
          <p:nvPr/>
        </p:nvSpPr>
        <p:spPr>
          <a:xfrm>
            <a:off x="4258270" y="2329755"/>
            <a:ext cx="9520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5191893" y="1946970"/>
            <a:ext cx="93997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2,200</a:t>
            </a:r>
            <a:endParaRPr lang="en-US" sz="840" dirty="0"/>
          </a:p>
        </p:txBody>
      </p:sp>
      <p:sp>
        <p:nvSpPr>
          <p:cNvPr id="50" name="Text 47"/>
          <p:cNvSpPr/>
          <p:nvPr/>
        </p:nvSpPr>
        <p:spPr>
          <a:xfrm>
            <a:off x="5210324" y="2329755"/>
            <a:ext cx="92154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6131868" y="2329755"/>
            <a:ext cx="1206252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6260009" y="2121545"/>
            <a:ext cx="342900" cy="43160"/>
          </a:xfrm>
          <a:prstGeom prst="roundRect">
            <a:avLst>
              <a:gd name="adj" fmla="val 50023"/>
            </a:avLst>
          </a:prstGeom>
          <a:solidFill>
            <a:srgbClr val="8B9BB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6260009" y="2121545"/>
            <a:ext cx="335905" cy="43160"/>
          </a:xfrm>
          <a:prstGeom prst="roundRect">
            <a:avLst>
              <a:gd name="adj" fmla="val 50023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6660059" y="2085975"/>
            <a:ext cx="265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0.98</a:t>
            </a:r>
            <a:endParaRPr lang="en-US" sz="790" dirty="0"/>
          </a:p>
        </p:txBody>
      </p:sp>
      <p:sp>
        <p:nvSpPr>
          <p:cNvPr id="55" name="Text 52"/>
          <p:cNvSpPr/>
          <p:nvPr/>
        </p:nvSpPr>
        <p:spPr>
          <a:xfrm>
            <a:off x="7338120" y="2329755"/>
            <a:ext cx="1339155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466725" y="2339280"/>
            <a:ext cx="304354" cy="404080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80" dirty="0"/>
          </a:p>
        </p:txBody>
      </p:sp>
      <p:sp>
        <p:nvSpPr>
          <p:cNvPr id="57" name="Text 54"/>
          <p:cNvSpPr/>
          <p:nvPr/>
        </p:nvSpPr>
        <p:spPr>
          <a:xfrm>
            <a:off x="466725" y="2722066"/>
            <a:ext cx="3043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771079" y="2339280"/>
            <a:ext cx="1196373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Hubble_Next</a:t>
            </a:r>
            <a:endParaRPr lang="en-US" sz="840" dirty="0"/>
          </a:p>
        </p:txBody>
      </p:sp>
      <p:sp>
        <p:nvSpPr>
          <p:cNvPr id="59" name="Text 56"/>
          <p:cNvSpPr/>
          <p:nvPr/>
        </p:nvSpPr>
        <p:spPr>
          <a:xfrm>
            <a:off x="771079" y="2722066"/>
            <a:ext cx="117291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943993" y="2722066"/>
            <a:ext cx="1057870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2976735" y="2339280"/>
            <a:ext cx="128153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7,300</a:t>
            </a:r>
            <a:endParaRPr lang="en-US" sz="840" dirty="0"/>
          </a:p>
        </p:txBody>
      </p:sp>
      <p:sp>
        <p:nvSpPr>
          <p:cNvPr id="62" name="Text 59"/>
          <p:cNvSpPr/>
          <p:nvPr/>
        </p:nvSpPr>
        <p:spPr>
          <a:xfrm>
            <a:off x="3001863" y="2722066"/>
            <a:ext cx="1256407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4239229" y="2339280"/>
            <a:ext cx="97109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40" dirty="0"/>
          </a:p>
        </p:txBody>
      </p:sp>
      <p:sp>
        <p:nvSpPr>
          <p:cNvPr id="64" name="Text 61"/>
          <p:cNvSpPr/>
          <p:nvPr/>
        </p:nvSpPr>
        <p:spPr>
          <a:xfrm>
            <a:off x="4258270" y="2722066"/>
            <a:ext cx="9520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5191893" y="2339280"/>
            <a:ext cx="93997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1,500</a:t>
            </a:r>
            <a:endParaRPr lang="en-US" sz="840" dirty="0"/>
          </a:p>
        </p:txBody>
      </p:sp>
      <p:sp>
        <p:nvSpPr>
          <p:cNvPr id="66" name="Text 63"/>
          <p:cNvSpPr/>
          <p:nvPr/>
        </p:nvSpPr>
        <p:spPr>
          <a:xfrm>
            <a:off x="5210324" y="2722066"/>
            <a:ext cx="92154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6131868" y="2722066"/>
            <a:ext cx="1206252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6260009" y="2513856"/>
            <a:ext cx="342900" cy="43160"/>
          </a:xfrm>
          <a:prstGeom prst="roundRect">
            <a:avLst>
              <a:gd name="adj" fmla="val 50023"/>
            </a:avLst>
          </a:prstGeom>
          <a:solidFill>
            <a:srgbClr val="8B9BB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6"/>
          <p:cNvSpPr/>
          <p:nvPr/>
        </p:nvSpPr>
        <p:spPr>
          <a:xfrm>
            <a:off x="6260009" y="2513856"/>
            <a:ext cx="325636" cy="43160"/>
          </a:xfrm>
          <a:prstGeom prst="roundRect">
            <a:avLst>
              <a:gd name="adj" fmla="val 50023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6660059" y="2478286"/>
            <a:ext cx="265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</a:t>
            </a:r>
            <a:endParaRPr lang="en-US" sz="790" dirty="0"/>
          </a:p>
        </p:txBody>
      </p:sp>
      <p:sp>
        <p:nvSpPr>
          <p:cNvPr id="71" name="Text 68"/>
          <p:cNvSpPr/>
          <p:nvPr/>
        </p:nvSpPr>
        <p:spPr>
          <a:xfrm>
            <a:off x="7338120" y="2722066"/>
            <a:ext cx="1339155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466725" y="2731591"/>
            <a:ext cx="8210550" cy="392311"/>
          </a:xfrm>
          <a:prstGeom prst="rect">
            <a:avLst/>
          </a:prstGeom>
          <a:solidFill>
            <a:srgbClr val="38BDF8">
              <a:alpha val="3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0"/>
          <p:cNvSpPr/>
          <p:nvPr/>
        </p:nvSpPr>
        <p:spPr>
          <a:xfrm>
            <a:off x="466725" y="2731591"/>
            <a:ext cx="304354" cy="404080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80" dirty="0"/>
          </a:p>
        </p:txBody>
      </p:sp>
      <p:sp>
        <p:nvSpPr>
          <p:cNvPr id="74" name="Text 71"/>
          <p:cNvSpPr/>
          <p:nvPr/>
        </p:nvSpPr>
        <p:spPr>
          <a:xfrm>
            <a:off x="466725" y="3114377"/>
            <a:ext cx="3043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2"/>
          <p:cNvSpPr/>
          <p:nvPr/>
        </p:nvSpPr>
        <p:spPr>
          <a:xfrm>
            <a:off x="771079" y="2731591"/>
            <a:ext cx="1196373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Mars_Scout</a:t>
            </a:r>
            <a:endParaRPr lang="en-US" sz="840" dirty="0"/>
          </a:p>
        </p:txBody>
      </p:sp>
      <p:sp>
        <p:nvSpPr>
          <p:cNvPr id="76" name="Text 73"/>
          <p:cNvSpPr/>
          <p:nvPr/>
        </p:nvSpPr>
        <p:spPr>
          <a:xfrm>
            <a:off x="771079" y="3114377"/>
            <a:ext cx="117291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4"/>
          <p:cNvSpPr/>
          <p:nvPr/>
        </p:nvSpPr>
        <p:spPr>
          <a:xfrm>
            <a:off x="1943993" y="3114377"/>
            <a:ext cx="1057870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2976735" y="2731591"/>
            <a:ext cx="128153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687</a:t>
            </a:r>
            <a:endParaRPr lang="en-US" sz="840" dirty="0"/>
          </a:p>
        </p:txBody>
      </p:sp>
      <p:sp>
        <p:nvSpPr>
          <p:cNvPr id="79" name="Text 76"/>
          <p:cNvSpPr/>
          <p:nvPr/>
        </p:nvSpPr>
        <p:spPr>
          <a:xfrm>
            <a:off x="3001863" y="3114377"/>
            <a:ext cx="1256407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7"/>
          <p:cNvSpPr/>
          <p:nvPr/>
        </p:nvSpPr>
        <p:spPr>
          <a:xfrm>
            <a:off x="4239229" y="2731591"/>
            <a:ext cx="97109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40" dirty="0"/>
          </a:p>
        </p:txBody>
      </p:sp>
      <p:sp>
        <p:nvSpPr>
          <p:cNvPr id="81" name="Text 78"/>
          <p:cNvSpPr/>
          <p:nvPr/>
        </p:nvSpPr>
        <p:spPr>
          <a:xfrm>
            <a:off x="4258270" y="3114377"/>
            <a:ext cx="9520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9"/>
          <p:cNvSpPr/>
          <p:nvPr/>
        </p:nvSpPr>
        <p:spPr>
          <a:xfrm>
            <a:off x="5191893" y="2731591"/>
            <a:ext cx="93997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</a:t>
            </a:r>
            <a:endParaRPr lang="en-US" sz="840" dirty="0"/>
          </a:p>
        </p:txBody>
      </p:sp>
      <p:sp>
        <p:nvSpPr>
          <p:cNvPr id="83" name="Text 80"/>
          <p:cNvSpPr/>
          <p:nvPr/>
        </p:nvSpPr>
        <p:spPr>
          <a:xfrm>
            <a:off x="5210324" y="3114377"/>
            <a:ext cx="92154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1"/>
          <p:cNvSpPr/>
          <p:nvPr/>
        </p:nvSpPr>
        <p:spPr>
          <a:xfrm>
            <a:off x="6131868" y="3114377"/>
            <a:ext cx="1206252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2"/>
          <p:cNvSpPr/>
          <p:nvPr/>
        </p:nvSpPr>
        <p:spPr>
          <a:xfrm>
            <a:off x="6260009" y="2906167"/>
            <a:ext cx="342900" cy="43160"/>
          </a:xfrm>
          <a:prstGeom prst="roundRect">
            <a:avLst>
              <a:gd name="adj" fmla="val 50023"/>
            </a:avLst>
          </a:prstGeom>
          <a:solidFill>
            <a:srgbClr val="8B9BB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3"/>
          <p:cNvSpPr/>
          <p:nvPr/>
        </p:nvSpPr>
        <p:spPr>
          <a:xfrm>
            <a:off x="6260009" y="2906167"/>
            <a:ext cx="301675" cy="43160"/>
          </a:xfrm>
          <a:prstGeom prst="roundRect">
            <a:avLst>
              <a:gd name="adj" fmla="val 50023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4"/>
          <p:cNvSpPr/>
          <p:nvPr/>
        </p:nvSpPr>
        <p:spPr>
          <a:xfrm>
            <a:off x="6660059" y="2870597"/>
            <a:ext cx="265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</a:t>
            </a:r>
            <a:endParaRPr lang="en-US" sz="790" dirty="0"/>
          </a:p>
        </p:txBody>
      </p:sp>
      <p:sp>
        <p:nvSpPr>
          <p:cNvPr id="88" name="Text 85"/>
          <p:cNvSpPr/>
          <p:nvPr/>
        </p:nvSpPr>
        <p:spPr>
          <a:xfrm>
            <a:off x="7338120" y="3114377"/>
            <a:ext cx="1339155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6"/>
          <p:cNvSpPr/>
          <p:nvPr/>
        </p:nvSpPr>
        <p:spPr>
          <a:xfrm>
            <a:off x="466725" y="3123902"/>
            <a:ext cx="304354" cy="404080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80" dirty="0"/>
          </a:p>
        </p:txBody>
      </p:sp>
      <p:sp>
        <p:nvSpPr>
          <p:cNvPr id="90" name="Text 87"/>
          <p:cNvSpPr/>
          <p:nvPr/>
        </p:nvSpPr>
        <p:spPr>
          <a:xfrm>
            <a:off x="466725" y="3506688"/>
            <a:ext cx="3043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8"/>
          <p:cNvSpPr/>
          <p:nvPr/>
        </p:nvSpPr>
        <p:spPr>
          <a:xfrm>
            <a:off x="771079" y="3123902"/>
            <a:ext cx="1196373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ISS_Relay</a:t>
            </a:r>
            <a:endParaRPr lang="en-US" sz="840" dirty="0"/>
          </a:p>
        </p:txBody>
      </p:sp>
      <p:sp>
        <p:nvSpPr>
          <p:cNvPr id="92" name="Text 89"/>
          <p:cNvSpPr/>
          <p:nvPr/>
        </p:nvSpPr>
        <p:spPr>
          <a:xfrm>
            <a:off x="771079" y="3506688"/>
            <a:ext cx="117291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0"/>
          <p:cNvSpPr/>
          <p:nvPr/>
        </p:nvSpPr>
        <p:spPr>
          <a:xfrm>
            <a:off x="1943993" y="3506688"/>
            <a:ext cx="1057870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1"/>
          <p:cNvSpPr/>
          <p:nvPr/>
        </p:nvSpPr>
        <p:spPr>
          <a:xfrm>
            <a:off x="2976735" y="3123902"/>
            <a:ext cx="128153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3,650</a:t>
            </a:r>
            <a:endParaRPr lang="en-US" sz="840" dirty="0"/>
          </a:p>
        </p:txBody>
      </p:sp>
      <p:sp>
        <p:nvSpPr>
          <p:cNvPr id="95" name="Text 92"/>
          <p:cNvSpPr/>
          <p:nvPr/>
        </p:nvSpPr>
        <p:spPr>
          <a:xfrm>
            <a:off x="3001863" y="3506688"/>
            <a:ext cx="1256407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93"/>
          <p:cNvSpPr/>
          <p:nvPr/>
        </p:nvSpPr>
        <p:spPr>
          <a:xfrm>
            <a:off x="4239229" y="3123902"/>
            <a:ext cx="97109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40" dirty="0"/>
          </a:p>
        </p:txBody>
      </p:sp>
      <p:sp>
        <p:nvSpPr>
          <p:cNvPr id="97" name="Text 94"/>
          <p:cNvSpPr/>
          <p:nvPr/>
        </p:nvSpPr>
        <p:spPr>
          <a:xfrm>
            <a:off x="4258270" y="3506688"/>
            <a:ext cx="9520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5"/>
          <p:cNvSpPr/>
          <p:nvPr/>
        </p:nvSpPr>
        <p:spPr>
          <a:xfrm>
            <a:off x="5191893" y="3123902"/>
            <a:ext cx="93997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320</a:t>
            </a:r>
            <a:endParaRPr lang="en-US" sz="840" dirty="0"/>
          </a:p>
        </p:txBody>
      </p:sp>
      <p:sp>
        <p:nvSpPr>
          <p:cNvPr id="99" name="Text 96"/>
          <p:cNvSpPr/>
          <p:nvPr/>
        </p:nvSpPr>
        <p:spPr>
          <a:xfrm>
            <a:off x="5210324" y="3506688"/>
            <a:ext cx="92154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7"/>
          <p:cNvSpPr/>
          <p:nvPr/>
        </p:nvSpPr>
        <p:spPr>
          <a:xfrm>
            <a:off x="6131868" y="3506688"/>
            <a:ext cx="1206252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8"/>
          <p:cNvSpPr/>
          <p:nvPr/>
        </p:nvSpPr>
        <p:spPr>
          <a:xfrm>
            <a:off x="6260009" y="3298478"/>
            <a:ext cx="342900" cy="43160"/>
          </a:xfrm>
          <a:prstGeom prst="roundRect">
            <a:avLst>
              <a:gd name="adj" fmla="val 50023"/>
            </a:avLst>
          </a:prstGeom>
          <a:solidFill>
            <a:srgbClr val="8B9BB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99"/>
          <p:cNvSpPr/>
          <p:nvPr/>
        </p:nvSpPr>
        <p:spPr>
          <a:xfrm>
            <a:off x="6260009" y="3298478"/>
            <a:ext cx="339328" cy="43160"/>
          </a:xfrm>
          <a:prstGeom prst="roundRect">
            <a:avLst>
              <a:gd name="adj" fmla="val 50023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Text 100"/>
          <p:cNvSpPr/>
          <p:nvPr/>
        </p:nvSpPr>
        <p:spPr>
          <a:xfrm>
            <a:off x="6660059" y="3262908"/>
            <a:ext cx="265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0.99</a:t>
            </a:r>
            <a:endParaRPr lang="en-US" sz="790" dirty="0"/>
          </a:p>
        </p:txBody>
      </p:sp>
      <p:sp>
        <p:nvSpPr>
          <p:cNvPr id="104" name="Text 101"/>
          <p:cNvSpPr/>
          <p:nvPr/>
        </p:nvSpPr>
        <p:spPr>
          <a:xfrm>
            <a:off x="7338120" y="3506688"/>
            <a:ext cx="1339155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2"/>
          <p:cNvSpPr/>
          <p:nvPr/>
        </p:nvSpPr>
        <p:spPr>
          <a:xfrm>
            <a:off x="466725" y="3520976"/>
            <a:ext cx="8210550" cy="360611"/>
          </a:xfrm>
          <a:prstGeom prst="rect">
            <a:avLst/>
          </a:prstGeom>
          <a:gradFill rotWithShape="1">
            <a:gsLst>
              <a:gs pos="0">
                <a:srgbClr val="38BDF8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Text 103"/>
          <p:cNvSpPr/>
          <p:nvPr/>
        </p:nvSpPr>
        <p:spPr>
          <a:xfrm>
            <a:off x="466725" y="3520976"/>
            <a:ext cx="8210550" cy="9525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104"/>
          <p:cNvSpPr/>
          <p:nvPr/>
        </p:nvSpPr>
        <p:spPr>
          <a:xfrm>
            <a:off x="638175" y="3630811"/>
            <a:ext cx="2829744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with </a:t>
            </a:r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mission types</a:t>
            </a:r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samples</a:t>
            </a:r>
            <a:endParaRPr lang="en-US" sz="790" dirty="0"/>
          </a:p>
        </p:txBody>
      </p:sp>
      <p:sp>
        <p:nvSpPr>
          <p:cNvPr id="108" name="Text 105"/>
          <p:cNvSpPr/>
          <p:nvPr/>
        </p:nvSpPr>
        <p:spPr>
          <a:xfrm>
            <a:off x="5099149" y="3677394"/>
            <a:ext cx="57150" cy="57150"/>
          </a:xfrm>
          <a:prstGeom prst="ellipse">
            <a:avLst/>
          </a:prstGeom>
          <a:solidFill>
            <a:srgbClr val="6366F1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6"/>
          <p:cNvSpPr/>
          <p:nvPr/>
        </p:nvSpPr>
        <p:spPr>
          <a:xfrm>
            <a:off x="5535067" y="3677394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Text 107"/>
          <p:cNvSpPr/>
          <p:nvPr/>
        </p:nvSpPr>
        <p:spPr>
          <a:xfrm>
            <a:off x="6037957" y="3677394"/>
            <a:ext cx="57150" cy="57150"/>
          </a:xfrm>
          <a:prstGeom prst="ellipse">
            <a:avLst/>
          </a:prstGeom>
          <a:solidFill>
            <a:srgbClr val="FBBF2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Text 108"/>
          <p:cNvSpPr/>
          <p:nvPr/>
        </p:nvSpPr>
        <p:spPr>
          <a:xfrm>
            <a:off x="6756797" y="3677394"/>
            <a:ext cx="57150" cy="57150"/>
          </a:xfrm>
          <a:prstGeom prst="ellipse">
            <a:avLst/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Text 109"/>
          <p:cNvSpPr/>
          <p:nvPr/>
        </p:nvSpPr>
        <p:spPr>
          <a:xfrm>
            <a:off x="7218462" y="3677394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10"/>
          <p:cNvSpPr/>
          <p:nvPr/>
        </p:nvSpPr>
        <p:spPr>
          <a:xfrm>
            <a:off x="8122593" y="3677394"/>
            <a:ext cx="57150" cy="57150"/>
          </a:xfrm>
          <a:prstGeom prst="ellipse">
            <a:avLst/>
          </a:prstGeom>
          <a:solidFill>
            <a:srgbClr val="C084FC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Text 1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03771"/>
            <a:ext cx="35421" cy="285750"/>
          </a:xfrm>
          <a:prstGeom prst="roundRect">
            <a:avLst>
              <a:gd name="adj" fmla="val 60953"/>
            </a:avLst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6921" y="342900"/>
            <a:ext cx="4645527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0"/>
              </a:lnSpc>
              <a:buNone/>
            </a:pPr>
            <a:r>
              <a:rPr lang="en-US" sz="2140" b="1" spc="-30" kern="0" dirty="0">
                <a:solidFill>
                  <a:srgbClr val="E8ED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 Engineering &amp; Description</a:t>
            </a:r>
            <a:endParaRPr lang="en-US" sz="2140" dirty="0"/>
          </a:p>
        </p:txBody>
      </p:sp>
      <p:sp>
        <p:nvSpPr>
          <p:cNvPr id="6" name="Text 4"/>
          <p:cNvSpPr/>
          <p:nvPr/>
        </p:nvSpPr>
        <p:spPr>
          <a:xfrm>
            <a:off x="457200" y="1017240"/>
            <a:ext cx="2350240" cy="200620"/>
          </a:xfrm>
          <a:prstGeom prst="rect">
            <a:avLst/>
          </a:prstGeom>
          <a:noFill/>
          <a:ln/>
        </p:spPr>
        <p:txBody>
          <a:bodyPr wrap="none" lIns="143510" tIns="0" rIns="143510" bIns="86360" rtlCol="0" anchor="t"/>
          <a:lstStyle/>
          <a:p>
            <a:pPr algn="l" indent="0" marL="0">
              <a:buNone/>
            </a:pPr>
            <a:r>
              <a:rPr lang="en-US" sz="730" b="1" spc="80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NAME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457200" y="1208336"/>
            <a:ext cx="2304157" cy="9525"/>
          </a:xfrm>
          <a:prstGeom prst="rect">
            <a:avLst/>
          </a:prstGeom>
          <a:solidFill>
            <a:srgbClr val="8B9BB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61357" y="1017240"/>
            <a:ext cx="6043952" cy="200620"/>
          </a:xfrm>
          <a:prstGeom prst="rect">
            <a:avLst/>
          </a:prstGeom>
          <a:noFill/>
          <a:ln/>
        </p:spPr>
        <p:txBody>
          <a:bodyPr wrap="none" lIns="143510" tIns="0" rIns="143510" bIns="86360" rtlCol="0" anchor="t"/>
          <a:lstStyle/>
          <a:p>
            <a:pPr algn="l" indent="0" marL="0">
              <a:buNone/>
            </a:pPr>
            <a:r>
              <a:rPr lang="en-US" sz="730" b="1" spc="80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/ TYPE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2761357" y="1208336"/>
            <a:ext cx="5925443" cy="9525"/>
          </a:xfrm>
          <a:prstGeom prst="rect">
            <a:avLst/>
          </a:prstGeom>
          <a:solidFill>
            <a:srgbClr val="8B9BB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1255961"/>
            <a:ext cx="2350240" cy="385316"/>
          </a:xfrm>
          <a:prstGeom prst="roundRect">
            <a:avLst>
              <a:gd name="adj" fmla="val 18458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algn="l" indent="0" marL="0">
              <a:lnSpc>
                <a:spcPts val="1262"/>
              </a:lnSpc>
              <a:buNone/>
            </a:pPr>
            <a:pPr algn="l" indent="0" marL="0">
              <a:lnSpc>
                <a:spcPts val="1262"/>
              </a:lnSpc>
              <a:buNone/>
            </a:pPr>
            <a:r>
              <a:rPr lang="en-US" sz="73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algn="l" indent="0" marL="0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Mission_Name </a:t>
            </a:r>
            <a:pPr algn="l" indent="0" marL="0">
              <a:lnSpc>
                <a:spcPts val="1262"/>
              </a:lnSpc>
              <a:buNone/>
            </a:pPr>
            <a:r>
              <a:rPr lang="en-US" sz="620" b="1" spc="60" kern="0" dirty="0">
                <a:solidFill>
                  <a:srgbClr val="38BDF8"/>
                </a:solidFill>
                <a:highlight>
                  <a:srgbClr val="38BDF8">
                    <a:alpha val="1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pPr algn="l" indent="0" marL="0">
              <a:lnSpc>
                <a:spcPts val="1262"/>
              </a:lnSpc>
              <a:buNone/>
            </a:pP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761357" y="1255961"/>
            <a:ext cx="6043952" cy="385316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mission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679377"/>
            <a:ext cx="2304157" cy="546643"/>
          </a:xfrm>
          <a:prstGeom prst="roundRect">
            <a:avLst>
              <a:gd name="adj" fmla="val 13010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lIns="143510" tIns="100330" rIns="143510" bIns="100330" rtlCol="0" anchor="t"/>
          <a:lstStyle/>
          <a:p>
            <a:pPr algn="l" indent="0" marL="0">
              <a:lnSpc>
                <a:spcPts val="1262"/>
              </a:lnSpc>
              <a:buNone/>
            </a:pPr>
            <a:pPr algn="l" indent="0" marL="0">
              <a:lnSpc>
                <a:spcPts val="1262"/>
              </a:lnSpc>
              <a:buNone/>
            </a:pPr>
            <a:r>
              <a:rPr lang="en-US" sz="73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algn="l" indent="0" marL="0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</a:t>
            </a:r>
            <a:pPr algn="l" indent="0" marL="0">
              <a:lnSpc>
                <a:spcPts val="1262"/>
              </a:lnSpc>
              <a:buNone/>
            </a:pPr>
            <a:r>
              <a:rPr lang="en-US" sz="620" b="1" spc="60" kern="0" dirty="0">
                <a:solidFill>
                  <a:srgbClr val="38BDF8"/>
                </a:solidFill>
                <a:highlight>
                  <a:srgbClr val="38BDF8">
                    <a:alpha val="20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pPr algn="l" indent="0" marL="0">
              <a:lnSpc>
                <a:spcPts val="1262"/>
              </a:lnSpc>
              <a:buNone/>
            </a:pP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2761357" y="1679377"/>
            <a:ext cx="5925443" cy="530721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2248198"/>
            <a:ext cx="2350240" cy="385316"/>
          </a:xfrm>
          <a:prstGeom prst="roundRect">
            <a:avLst>
              <a:gd name="adj" fmla="val 18458"/>
            </a:avLst>
          </a:prstGeom>
          <a:solidFill>
            <a:srgbClr val="E8EDF4">
              <a:alpha val="6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algn="l" indent="0" marL="0">
              <a:lnSpc>
                <a:spcPts val="1262"/>
              </a:lnSpc>
              <a:buNone/>
            </a:pPr>
            <a:pPr algn="l" indent="0" marL="0">
              <a:lnSpc>
                <a:spcPts val="1262"/>
              </a:lnSpc>
              <a:buNone/>
            </a:pPr>
            <a:r>
              <a:rPr lang="en-US" sz="73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algn="l" indent="0" marL="0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Duration_Days </a:t>
            </a:r>
            <a:pPr algn="l" indent="0" marL="0">
              <a:lnSpc>
                <a:spcPts val="1262"/>
              </a:lnSpc>
              <a:buNone/>
            </a:pPr>
            <a:r>
              <a:rPr lang="en-US" sz="620" b="1" spc="60" kern="0" dirty="0">
                <a:solidFill>
                  <a:srgbClr val="8B9BB8"/>
                </a:solidFill>
                <a:highlight>
                  <a:srgbClr val="8B9BB8">
                    <a:alpha val="1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pPr algn="l" indent="0" marL="0">
              <a:lnSpc>
                <a:spcPts val="1262"/>
              </a:lnSpc>
              <a:buNone/>
            </a:pP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2761357" y="2248198"/>
            <a:ext cx="6043952" cy="385316"/>
          </a:xfrm>
          <a:prstGeom prst="rect">
            <a:avLst/>
          </a:prstGeom>
          <a:solidFill>
            <a:srgbClr val="E8EDF4">
              <a:alpha val="6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mission duration in days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671614"/>
            <a:ext cx="2350240" cy="385316"/>
          </a:xfrm>
          <a:prstGeom prst="roundRect">
            <a:avLst>
              <a:gd name="adj" fmla="val 18458"/>
            </a:avLst>
          </a:prstGeom>
          <a:solidFill>
            <a:srgbClr val="E8EDF4">
              <a:alpha val="6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algn="l" indent="0" marL="0">
              <a:lnSpc>
                <a:spcPts val="1262"/>
              </a:lnSpc>
              <a:buNone/>
            </a:pPr>
            <a:pPr algn="l" indent="0" marL="0">
              <a:lnSpc>
                <a:spcPts val="1262"/>
              </a:lnSpc>
              <a:buNone/>
            </a:pPr>
            <a:r>
              <a:rPr lang="en-US" sz="73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algn="l" indent="0" marL="0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Crew_Size </a:t>
            </a:r>
            <a:pPr algn="l" indent="0" marL="0">
              <a:lnSpc>
                <a:spcPts val="1262"/>
              </a:lnSpc>
              <a:buNone/>
            </a:pPr>
            <a:r>
              <a:rPr lang="en-US" sz="620" b="1" spc="60" kern="0" dirty="0">
                <a:solidFill>
                  <a:srgbClr val="8B9BB8"/>
                </a:solidFill>
                <a:highlight>
                  <a:srgbClr val="8B9BB8">
                    <a:alpha val="1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pPr algn="l" indent="0" marL="0">
              <a:lnSpc>
                <a:spcPts val="1262"/>
              </a:lnSpc>
              <a:buNone/>
            </a:pP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2761357" y="2671614"/>
            <a:ext cx="6043952" cy="385316"/>
          </a:xfrm>
          <a:prstGeom prst="rect">
            <a:avLst/>
          </a:prstGeom>
          <a:solidFill>
            <a:srgbClr val="E8EDF4">
              <a:alpha val="6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crew members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 for unmanned)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095030"/>
            <a:ext cx="2350240" cy="385316"/>
          </a:xfrm>
          <a:prstGeom prst="roundRect">
            <a:avLst>
              <a:gd name="adj" fmla="val 18458"/>
            </a:avLst>
          </a:prstGeom>
          <a:solidFill>
            <a:srgbClr val="E8EDF4">
              <a:alpha val="6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algn="l" indent="0" marL="0">
              <a:lnSpc>
                <a:spcPts val="1262"/>
              </a:lnSpc>
              <a:buNone/>
            </a:pPr>
            <a:pPr algn="l" indent="0" marL="0">
              <a:lnSpc>
                <a:spcPts val="1262"/>
              </a:lnSpc>
              <a:buNone/>
            </a:pPr>
            <a:r>
              <a:rPr lang="en-US" sz="73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pPr algn="l" indent="0" marL="0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Budget_Million </a:t>
            </a:r>
            <a:pPr algn="l" indent="0" marL="0">
              <a:lnSpc>
                <a:spcPts val="1262"/>
              </a:lnSpc>
              <a:buNone/>
            </a:pPr>
            <a:r>
              <a:rPr lang="en-US" sz="620" b="1" spc="60" kern="0" dirty="0">
                <a:solidFill>
                  <a:srgbClr val="8B9BB8"/>
                </a:solidFill>
                <a:highlight>
                  <a:srgbClr val="8B9BB8">
                    <a:alpha val="1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pPr algn="l" indent="0" marL="0">
              <a:lnSpc>
                <a:spcPts val="1262"/>
              </a:lnSpc>
              <a:buNone/>
            </a:pP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2761357" y="3095030"/>
            <a:ext cx="6043952" cy="385316"/>
          </a:xfrm>
          <a:prstGeom prst="rect">
            <a:avLst/>
          </a:prstGeom>
          <a:solidFill>
            <a:srgbClr val="E8EDF4">
              <a:alpha val="6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budget in millions USD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518446"/>
            <a:ext cx="2350240" cy="385316"/>
          </a:xfrm>
          <a:prstGeom prst="roundRect">
            <a:avLst>
              <a:gd name="adj" fmla="val 18458"/>
            </a:avLst>
          </a:prstGeom>
          <a:solidFill>
            <a:srgbClr val="E8EDF4">
              <a:alpha val="6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algn="l" indent="0" marL="0">
              <a:lnSpc>
                <a:spcPts val="1262"/>
              </a:lnSpc>
              <a:buNone/>
            </a:pPr>
            <a:pPr algn="l" indent="0" marL="0">
              <a:lnSpc>
                <a:spcPts val="1262"/>
              </a:lnSpc>
              <a:buNone/>
            </a:pPr>
            <a:r>
              <a:rPr lang="en-US" sz="73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pPr algn="l" indent="0" marL="0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Success_Rate </a:t>
            </a:r>
            <a:pPr algn="l" indent="0" marL="0">
              <a:lnSpc>
                <a:spcPts val="1262"/>
              </a:lnSpc>
              <a:buNone/>
            </a:pPr>
            <a:r>
              <a:rPr lang="en-US" sz="620" b="1" spc="60" kern="0" dirty="0">
                <a:solidFill>
                  <a:srgbClr val="8B9BB8"/>
                </a:solidFill>
                <a:highlight>
                  <a:srgbClr val="8B9BB8">
                    <a:alpha val="1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pPr algn="l" indent="0" marL="0">
              <a:lnSpc>
                <a:spcPts val="1262"/>
              </a:lnSpc>
              <a:buNone/>
            </a:pP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2761357" y="3518446"/>
            <a:ext cx="6043952" cy="385316"/>
          </a:xfrm>
          <a:prstGeom prst="rect">
            <a:avLst/>
          </a:prstGeom>
          <a:solidFill>
            <a:srgbClr val="E8EDF4">
              <a:alpha val="6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success probability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 – 1.0)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941862"/>
            <a:ext cx="2304157" cy="546643"/>
          </a:xfrm>
          <a:prstGeom prst="roundRect">
            <a:avLst>
              <a:gd name="adj" fmla="val 13010"/>
            </a:avLst>
          </a:prstGeom>
          <a:solidFill>
            <a:srgbClr val="FBBF24">
              <a:alpha val="12000"/>
            </a:srgbClr>
          </a:solidFill>
          <a:ln/>
        </p:spPr>
        <p:txBody>
          <a:bodyPr wrap="square" lIns="143510" tIns="100330" rIns="143510" bIns="100330" rtlCol="0" anchor="t"/>
          <a:lstStyle/>
          <a:p>
            <a:pPr algn="l" indent="0" marL="0">
              <a:lnSpc>
                <a:spcPts val="1262"/>
              </a:lnSpc>
              <a:buNone/>
            </a:pPr>
            <a:pPr algn="l" indent="0" marL="0">
              <a:lnSpc>
                <a:spcPts val="1262"/>
              </a:lnSpc>
              <a:buNone/>
            </a:pPr>
            <a:r>
              <a:rPr lang="en-US" sz="73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pPr algn="l" indent="0" marL="0">
              <a:lnSpc>
                <a:spcPts val="1262"/>
              </a:lnSpc>
              <a:buNone/>
            </a:pPr>
            <a:r>
              <a:rPr lang="en-US" sz="87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Mission_Type </a:t>
            </a:r>
            <a:pPr algn="l" indent="0" marL="0">
              <a:lnSpc>
                <a:spcPts val="1262"/>
              </a:lnSpc>
              <a:buNone/>
            </a:pPr>
            <a:r>
              <a:rPr lang="en-US" sz="620" b="1" spc="60" kern="0" dirty="0">
                <a:solidFill>
                  <a:srgbClr val="FBBF24"/>
                </a:solidFill>
                <a:highlight>
                  <a:srgbClr val="FBBF24">
                    <a:alpha val="20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 TARGET</a:t>
            </a:r>
            <a:pPr algn="l" indent="0" marL="0">
              <a:lnSpc>
                <a:spcPts val="1262"/>
              </a:lnSpc>
              <a:buNone/>
            </a:pP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2761357" y="3941862"/>
            <a:ext cx="5925443" cy="530721"/>
          </a:xfrm>
          <a:prstGeom prst="rect">
            <a:avLst/>
          </a:prstGeom>
          <a:solidFill>
            <a:srgbClr val="FBBF24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" y="4654153"/>
            <a:ext cx="8229600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7200" y="4797326"/>
            <a:ext cx="100310" cy="100310"/>
          </a:xfrm>
          <a:prstGeom prst="roundRect">
            <a:avLst>
              <a:gd name="adj" fmla="val 29120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30561" y="4797326"/>
            <a:ext cx="100310" cy="100310"/>
          </a:xfrm>
          <a:prstGeom prst="roundRect">
            <a:avLst>
              <a:gd name="adj" fmla="val 29120"/>
            </a:avLst>
          </a:prstGeom>
          <a:solidFill>
            <a:srgbClr val="E8EDF4">
              <a:alpha val="6000"/>
            </a:srgbClr>
          </a:solidFill>
          <a:ln w="9525">
            <a:solidFill>
              <a:srgbClr val="8B9BB8">
                <a:alpha val="2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361307" y="4797326"/>
            <a:ext cx="100310" cy="100310"/>
          </a:xfrm>
          <a:prstGeom prst="roundRect">
            <a:avLst>
              <a:gd name="adj" fmla="val 29120"/>
            </a:avLst>
          </a:prstGeom>
          <a:solidFill>
            <a:srgbClr val="FBBF24">
              <a:alpha val="12000"/>
            </a:srgbClr>
          </a:solidFill>
          <a:ln w="9525">
            <a:solidFill>
              <a:srgbClr val="FBBF24">
                <a:alpha val="5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702302" y="4782741"/>
            <a:ext cx="108294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input features + 1 target</a:t>
            </a:r>
            <a:endParaRPr lang="en-US" sz="68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1279" y="4781112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917829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spcAft>
                <a:spcPts val="340"/>
              </a:spcAft>
              <a:buNone/>
            </a:pPr>
            <a:r>
              <a:rPr lang="en-US" sz="730" b="1" spc="11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PREPROCESSING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400050" y="525066"/>
            <a:ext cx="892797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00050" y="896541"/>
            <a:ext cx="42922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3729" y="1525042"/>
            <a:ext cx="1572220" cy="1102370"/>
          </a:xfrm>
          <a:prstGeom prst="roundRect">
            <a:avLst>
              <a:gd name="adj" fmla="val 7834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69529" y="1434257"/>
            <a:ext cx="200620" cy="220682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426964" y="1678037"/>
            <a:ext cx="285750" cy="28575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3471" y="1754544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1047" y="2034778"/>
            <a:ext cx="797436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908426" y="2224088"/>
            <a:ext cx="1322826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(Mixed types: strings + numbers)</a:t>
            </a:r>
            <a:endParaRPr lang="en-US" sz="73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41972" y="2012007"/>
            <a:ext cx="257175" cy="128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5170" y="1525042"/>
            <a:ext cx="1572220" cy="1102370"/>
          </a:xfrm>
          <a:prstGeom prst="roundRect">
            <a:avLst>
              <a:gd name="adj" fmla="val 7834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470970" y="1434257"/>
            <a:ext cx="200620" cy="220682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14" name="Text 10"/>
          <p:cNvSpPr/>
          <p:nvPr/>
        </p:nvSpPr>
        <p:spPr>
          <a:xfrm>
            <a:off x="3428405" y="1678037"/>
            <a:ext cx="285750" cy="28575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4911" y="1754544"/>
            <a:ext cx="132588" cy="132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26750" y="2034778"/>
            <a:ext cx="1289060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Mission_Name</a:t>
            </a:r>
            <a:endParaRPr lang="en-US" sz="960" dirty="0"/>
          </a:p>
        </p:txBody>
      </p:sp>
      <p:sp>
        <p:nvSpPr>
          <p:cNvPr id="17" name="Text 12"/>
          <p:cNvSpPr/>
          <p:nvPr/>
        </p:nvSpPr>
        <p:spPr>
          <a:xfrm>
            <a:off x="2909867" y="2224088"/>
            <a:ext cx="1322826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(Remove non-predictive ID column)</a:t>
            </a:r>
            <a:endParaRPr lang="en-US" sz="73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3413" y="2012007"/>
            <a:ext cx="257175" cy="1285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86610" y="1525042"/>
            <a:ext cx="1572220" cy="1102370"/>
          </a:xfrm>
          <a:prstGeom prst="roundRect">
            <a:avLst>
              <a:gd name="adj" fmla="val 7834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5472410" y="1434257"/>
            <a:ext cx="200620" cy="220682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21" name="Text 15"/>
          <p:cNvSpPr/>
          <p:nvPr/>
        </p:nvSpPr>
        <p:spPr>
          <a:xfrm>
            <a:off x="5429845" y="1678037"/>
            <a:ext cx="285750" cy="28575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06352" y="1754544"/>
            <a:ext cx="132588" cy="132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29391" y="2034778"/>
            <a:ext cx="886658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</a:t>
            </a:r>
            <a:endParaRPr lang="en-US" sz="960" dirty="0"/>
          </a:p>
        </p:txBody>
      </p:sp>
      <p:sp>
        <p:nvSpPr>
          <p:cNvPr id="24" name="Text 17"/>
          <p:cNvSpPr/>
          <p:nvPr/>
        </p:nvSpPr>
        <p:spPr>
          <a:xfrm>
            <a:off x="4911307" y="2224088"/>
            <a:ext cx="1322826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(Encode categorical: Destination → 0,1,2,3,4,5)</a:t>
            </a:r>
            <a:endParaRPr lang="en-US" sz="73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44853" y="2012007"/>
            <a:ext cx="257175" cy="12858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88051" y="1514624"/>
            <a:ext cx="1572220" cy="1123355"/>
          </a:xfrm>
          <a:prstGeom prst="roundRect">
            <a:avLst>
              <a:gd name="adj" fmla="val 7688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7473851" y="1423839"/>
            <a:ext cx="200620" cy="220682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30" dirty="0"/>
          </a:p>
        </p:txBody>
      </p:sp>
      <p:sp>
        <p:nvSpPr>
          <p:cNvPr id="28" name="Text 20"/>
          <p:cNvSpPr/>
          <p:nvPr/>
        </p:nvSpPr>
        <p:spPr>
          <a:xfrm>
            <a:off x="7431286" y="1667619"/>
            <a:ext cx="285750" cy="28575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07793" y="1744126"/>
            <a:ext cx="132588" cy="13258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12748" y="2024360"/>
            <a:ext cx="1322826" cy="306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X &amp; Target y</a:t>
            </a:r>
            <a:endParaRPr lang="en-US" sz="960" dirty="0"/>
          </a:p>
        </p:txBody>
      </p:sp>
      <p:sp>
        <p:nvSpPr>
          <p:cNvPr id="31" name="Text 22"/>
          <p:cNvSpPr/>
          <p:nvPr/>
        </p:nvSpPr>
        <p:spPr>
          <a:xfrm>
            <a:off x="6974324" y="2359819"/>
            <a:ext cx="1199674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numeric, ready for ML)</a:t>
            </a:r>
            <a:endParaRPr lang="en-US" sz="73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43358" y="2915180"/>
            <a:ext cx="132588" cy="13258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514874" y="2895749"/>
            <a:ext cx="249413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Example — Destination Feature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1462534" y="3210669"/>
            <a:ext cx="6218932" cy="797272"/>
          </a:xfrm>
          <a:prstGeom prst="roundRect">
            <a:avLst>
              <a:gd name="adj" fmla="val 10832"/>
            </a:avLst>
          </a:prstGeom>
          <a:solidFill>
            <a:srgbClr val="152238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5"/>
          <p:cNvSpPr/>
          <p:nvPr/>
        </p:nvSpPr>
        <p:spPr>
          <a:xfrm>
            <a:off x="2970163" y="3363664"/>
            <a:ext cx="524024" cy="189905"/>
          </a:xfrm>
          <a:prstGeom prst="roundRect">
            <a:avLst>
              <a:gd name="adj" fmla="val 15381"/>
            </a:avLst>
          </a:prstGeom>
          <a:solidFill>
            <a:srgbClr val="8B9BB8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680" dirty="0"/>
          </a:p>
        </p:txBody>
      </p:sp>
      <p:sp>
        <p:nvSpPr>
          <p:cNvPr id="36" name="Text 26"/>
          <p:cNvSpPr/>
          <p:nvPr/>
        </p:nvSpPr>
        <p:spPr>
          <a:xfrm>
            <a:off x="1699486" y="3612059"/>
            <a:ext cx="605397" cy="238125"/>
          </a:xfrm>
          <a:prstGeom prst="rect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</a:t>
            </a:r>
            <a:endParaRPr lang="en-US" sz="840" dirty="0"/>
          </a:p>
        </p:txBody>
      </p:sp>
      <p:sp>
        <p:nvSpPr>
          <p:cNvPr id="37" name="Text 27"/>
          <p:cNvSpPr/>
          <p:nvPr/>
        </p:nvSpPr>
        <p:spPr>
          <a:xfrm>
            <a:off x="2293726" y="3612059"/>
            <a:ext cx="532683" cy="238125"/>
          </a:xfrm>
          <a:prstGeom prst="rect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840" dirty="0"/>
          </a:p>
        </p:txBody>
      </p:sp>
      <p:sp>
        <p:nvSpPr>
          <p:cNvPr id="38" name="Text 28"/>
          <p:cNvSpPr/>
          <p:nvPr/>
        </p:nvSpPr>
        <p:spPr>
          <a:xfrm>
            <a:off x="2816316" y="3612059"/>
            <a:ext cx="496705" cy="238125"/>
          </a:xfrm>
          <a:prstGeom prst="rect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840" dirty="0"/>
          </a:p>
        </p:txBody>
      </p:sp>
      <p:sp>
        <p:nvSpPr>
          <p:cNvPr id="39" name="Text 29"/>
          <p:cNvSpPr/>
          <p:nvPr/>
        </p:nvSpPr>
        <p:spPr>
          <a:xfrm>
            <a:off x="3303580" y="3612059"/>
            <a:ext cx="466344" cy="238125"/>
          </a:xfrm>
          <a:prstGeom prst="rect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</a:t>
            </a:r>
            <a:endParaRPr lang="en-US" sz="840" dirty="0"/>
          </a:p>
        </p:txBody>
      </p:sp>
      <p:sp>
        <p:nvSpPr>
          <p:cNvPr id="40" name="Text 30"/>
          <p:cNvSpPr/>
          <p:nvPr/>
        </p:nvSpPr>
        <p:spPr>
          <a:xfrm>
            <a:off x="3760601" y="3612059"/>
            <a:ext cx="484561" cy="238125"/>
          </a:xfrm>
          <a:prstGeom prst="rect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840" dirty="0"/>
          </a:p>
        </p:txBody>
      </p:sp>
      <p:sp>
        <p:nvSpPr>
          <p:cNvPr id="41" name="Text 31"/>
          <p:cNvSpPr/>
          <p:nvPr/>
        </p:nvSpPr>
        <p:spPr>
          <a:xfrm>
            <a:off x="4234654" y="3612059"/>
            <a:ext cx="587181" cy="238125"/>
          </a:xfrm>
          <a:prstGeom prst="rect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</a:t>
            </a:r>
            <a:endParaRPr lang="en-US" sz="84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95280" y="3460403"/>
            <a:ext cx="279053" cy="150465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992291" y="3640038"/>
            <a:ext cx="53353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</a:t>
            </a:r>
            <a:endParaRPr lang="en-US" sz="620" dirty="0"/>
          </a:p>
        </p:txBody>
      </p:sp>
      <p:sp>
        <p:nvSpPr>
          <p:cNvPr id="44" name="Text 33"/>
          <p:cNvSpPr/>
          <p:nvPr/>
        </p:nvSpPr>
        <p:spPr>
          <a:xfrm>
            <a:off x="6350496" y="3363664"/>
            <a:ext cx="448270" cy="189905"/>
          </a:xfrm>
          <a:prstGeom prst="roundRect">
            <a:avLst>
              <a:gd name="adj" fmla="val 15381"/>
            </a:avLst>
          </a:prstGeom>
          <a:solidFill>
            <a:srgbClr val="38BDF8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680" dirty="0"/>
          </a:p>
        </p:txBody>
      </p:sp>
      <p:sp>
        <p:nvSpPr>
          <p:cNvPr id="45" name="Text 34"/>
          <p:cNvSpPr/>
          <p:nvPr/>
        </p:nvSpPr>
        <p:spPr>
          <a:xfrm>
            <a:off x="5650559" y="3612059"/>
            <a:ext cx="303458" cy="238125"/>
          </a:xfrm>
          <a:prstGeom prst="rect">
            <a:avLst/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40" dirty="0"/>
          </a:p>
        </p:txBody>
      </p:sp>
      <p:sp>
        <p:nvSpPr>
          <p:cNvPr id="46" name="Text 35"/>
          <p:cNvSpPr/>
          <p:nvPr/>
        </p:nvSpPr>
        <p:spPr>
          <a:xfrm>
            <a:off x="5948066" y="3612059"/>
            <a:ext cx="303458" cy="238125"/>
          </a:xfrm>
          <a:prstGeom prst="rect">
            <a:avLst/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40" dirty="0"/>
          </a:p>
        </p:txBody>
      </p:sp>
      <p:sp>
        <p:nvSpPr>
          <p:cNvPr id="47" name="Text 36"/>
          <p:cNvSpPr/>
          <p:nvPr/>
        </p:nvSpPr>
        <p:spPr>
          <a:xfrm>
            <a:off x="6245574" y="3612059"/>
            <a:ext cx="303458" cy="238125"/>
          </a:xfrm>
          <a:prstGeom prst="rect">
            <a:avLst/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40" dirty="0"/>
          </a:p>
        </p:txBody>
      </p:sp>
      <p:sp>
        <p:nvSpPr>
          <p:cNvPr id="48" name="Text 37"/>
          <p:cNvSpPr/>
          <p:nvPr/>
        </p:nvSpPr>
        <p:spPr>
          <a:xfrm>
            <a:off x="6543081" y="3612059"/>
            <a:ext cx="303458" cy="238125"/>
          </a:xfrm>
          <a:prstGeom prst="rect">
            <a:avLst/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49" name="Text 38"/>
          <p:cNvSpPr/>
          <p:nvPr/>
        </p:nvSpPr>
        <p:spPr>
          <a:xfrm>
            <a:off x="6840589" y="3612059"/>
            <a:ext cx="303458" cy="238125"/>
          </a:xfrm>
          <a:prstGeom prst="rect">
            <a:avLst/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40" dirty="0"/>
          </a:p>
        </p:txBody>
      </p:sp>
      <p:sp>
        <p:nvSpPr>
          <p:cNvPr id="50" name="Text 39"/>
          <p:cNvSpPr/>
          <p:nvPr/>
        </p:nvSpPr>
        <p:spPr>
          <a:xfrm>
            <a:off x="7138096" y="3612059"/>
            <a:ext cx="303458" cy="238125"/>
          </a:xfrm>
          <a:prstGeom prst="rect">
            <a:avLst/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40" dirty="0"/>
          </a:p>
        </p:txBody>
      </p:sp>
      <p:sp>
        <p:nvSpPr>
          <p:cNvPr id="51" name="Text 40"/>
          <p:cNvSpPr/>
          <p:nvPr/>
        </p:nvSpPr>
        <p:spPr>
          <a:xfrm>
            <a:off x="1738826" y="4122241"/>
            <a:ext cx="566619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unique string value is mapped to an integer (alphabetical order: GEO=0, Jupiter=1, LEO=2, Mars=3, Moon=4, Saturn=5)</a:t>
            </a:r>
            <a:endParaRPr lang="en-US" sz="7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81893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557" y="458400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6110" y="342900"/>
            <a:ext cx="3763463" cy="363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865"/>
              </a:lnSpc>
              <a:buNone/>
            </a:pPr>
            <a:r>
              <a:rPr lang="en-US" sz="1910" spc="-30" kern="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— </a:t>
            </a:r>
            <a:pPr algn="l" indent="0" marL="0">
              <a:lnSpc>
                <a:spcPts val="2865"/>
              </a:lnSpc>
              <a:buNone/>
            </a:pPr>
            <a:r>
              <a:rPr lang="en-US" sz="1910" b="1" spc="-3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</a:t>
            </a:r>
            <a:endParaRPr lang="en-US" sz="1910" dirty="0"/>
          </a:p>
        </p:txBody>
      </p:sp>
      <p:sp>
        <p:nvSpPr>
          <p:cNvPr id="5" name="Text 2"/>
          <p:cNvSpPr/>
          <p:nvPr/>
        </p:nvSpPr>
        <p:spPr>
          <a:xfrm>
            <a:off x="400050" y="907405"/>
            <a:ext cx="6143030" cy="4236095"/>
          </a:xfrm>
          <a:prstGeom prst="roundRect">
            <a:avLst>
              <a:gd name="adj" fmla="val 1679"/>
            </a:avLst>
          </a:prstGeom>
          <a:solidFill>
            <a:srgbClr val="0D1117"/>
          </a:solidFill>
          <a:ln w="9525">
            <a:solidFill>
              <a:srgbClr val="1E2D3D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38175" y="1350615"/>
            <a:ext cx="5666780" cy="9525"/>
          </a:xfrm>
          <a:prstGeom prst="rect">
            <a:avLst/>
          </a:prstGeom>
          <a:solidFill>
            <a:srgbClr val="1E2D3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38175" y="1155353"/>
            <a:ext cx="70991" cy="70991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66316" y="1155353"/>
            <a:ext cx="70991" cy="70991"/>
          </a:xfrm>
          <a:prstGeom prst="ellipse">
            <a:avLst/>
          </a:prstGeom>
          <a:solidFill>
            <a:srgbClr val="FEBC2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94457" y="1155353"/>
            <a:ext cx="70991" cy="70991"/>
          </a:xfrm>
          <a:prstGeom prst="ellipse">
            <a:avLst/>
          </a:prstGeom>
          <a:solidFill>
            <a:srgbClr val="28C84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079748" y="1117550"/>
            <a:ext cx="741938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56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preprocess.py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638175" y="1474440"/>
            <a:ext cx="5780115" cy="3852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1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7B72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import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pandas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7B72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as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pd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2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7B72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from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sklearn.preprocessing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7B72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import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LabelEncoder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3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7B72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from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sklearn.model_selection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7B72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import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train_test_split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4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5</a:t>
            </a:r>
            <a:pPr algn="l" indent="0" marL="0">
              <a:lnSpc>
                <a:spcPts val="1394"/>
              </a:lnSpc>
              <a:buNone/>
            </a:pPr>
            <a:r>
              <a:rPr lang="en-US" sz="820" i="1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# Load synthetic dataset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6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df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pd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.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D2A8FF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read_csv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(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A5D6FF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'nasa_missions.csv'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)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7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8</a:t>
            </a:r>
            <a:pPr algn="l" indent="0" marL="0">
              <a:lnSpc>
                <a:spcPts val="1394"/>
              </a:lnSpc>
              <a:buNone/>
            </a:pPr>
            <a:r>
              <a:rPr lang="en-US" sz="820" i="1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# Drop non-predictive column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9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df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df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.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D2A8FF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drop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(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A5D6FF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'Mission_Name'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,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axis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79C0FF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1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)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10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11</a:t>
            </a:r>
            <a:pPr algn="l" indent="0" marL="0">
              <a:lnSpc>
                <a:spcPts val="1394"/>
              </a:lnSpc>
              <a:buNone/>
            </a:pPr>
            <a:r>
              <a:rPr lang="en-US" sz="820" i="1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# Encode categorical features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12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le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D2A8FF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LabelEncoder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()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13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7B72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for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col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7B72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in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df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.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D2A8FF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select_dtypes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(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include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A5D6FF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'object'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)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.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columns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: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14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  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df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[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col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]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le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.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D2A8FF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fit_transform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(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df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[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col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]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)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15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16</a:t>
            </a:r>
            <a:pPr algn="l" indent="0" marL="0">
              <a:lnSpc>
                <a:spcPts val="1394"/>
              </a:lnSpc>
              <a:buNone/>
            </a:pPr>
            <a:r>
              <a:rPr lang="en-US" sz="820" i="1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# Split features and target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17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X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df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.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D2A8FF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drop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(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A5D6FF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'Mission_Type'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,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axis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79C0FF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1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)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18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y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df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[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A5D6FF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'Mission_Type'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]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19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20</a:t>
            </a:r>
            <a:pPr algn="l" indent="0" marL="0">
              <a:lnSpc>
                <a:spcPts val="1394"/>
              </a:lnSpc>
              <a:buNone/>
            </a:pPr>
            <a:r>
              <a:rPr lang="en-US" sz="820" i="1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# Train-test split (80/20)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21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X_train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,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X_test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,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y_train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,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y_test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D2A8FF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train_test_split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(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22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  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X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,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y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,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test_size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79C0FF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0.2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,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random_state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79C0FF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42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br/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23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8B949E"/>
                </a:solidFill>
                <a:latin typeface="ui-monospace" altFont="Arial" pitchFamily="34" charset="0"/>
                <a:ea typeface="ui-monospace" altFont="Arial" pitchFamily="34" charset="-122"/>
                <a:cs typeface="ui-monospace" altFont="Arial" pitchFamily="34" charset="-120"/>
              </a:rPr>
              <a:t>)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6743700" y="907405"/>
            <a:ext cx="2000250" cy="982117"/>
          </a:xfrm>
          <a:prstGeom prst="roundRect">
            <a:avLst>
              <a:gd name="adj" fmla="val 7242"/>
            </a:avLst>
          </a:prstGeom>
          <a:gradFill rotWithShape="1">
            <a:gsLst>
              <a:gs pos="0">
                <a:srgbClr val="38BDF8">
                  <a:alpha val="12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2463" y="1063609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63978" y="1060400"/>
            <a:ext cx="89893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</a:t>
            </a:r>
            <a:endParaRPr lang="en-US" sz="730" dirty="0"/>
          </a:p>
        </p:txBody>
      </p:sp>
      <p:sp>
        <p:nvSpPr>
          <p:cNvPr id="15" name="Text 11"/>
          <p:cNvSpPr/>
          <p:nvPr/>
        </p:nvSpPr>
        <p:spPr>
          <a:xfrm>
            <a:off x="6910685" y="1270397"/>
            <a:ext cx="1699605" cy="48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each unique string to an integer </a:t>
            </a:r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 to n−1)</a:t>
            </a:r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making categorical data compatible with ML algorithms.</a:t>
            </a:r>
            <a:endParaRPr lang="en-US" sz="790" dirty="0"/>
          </a:p>
        </p:txBody>
      </p:sp>
      <p:sp>
        <p:nvSpPr>
          <p:cNvPr id="16" name="Text 12"/>
          <p:cNvSpPr/>
          <p:nvPr/>
        </p:nvSpPr>
        <p:spPr>
          <a:xfrm>
            <a:off x="6743700" y="2003822"/>
            <a:ext cx="2000250" cy="982117"/>
          </a:xfrm>
          <a:prstGeom prst="roundRect">
            <a:avLst>
              <a:gd name="adj" fmla="val 7242"/>
            </a:avLst>
          </a:prstGeom>
          <a:gradFill rotWithShape="1">
            <a:gsLst>
              <a:gs pos="0">
                <a:srgbClr val="38BDF8">
                  <a:alpha val="12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92463" y="2160026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63978" y="2156817"/>
            <a:ext cx="98357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730" dirty="0"/>
          </a:p>
        </p:txBody>
      </p:sp>
      <p:sp>
        <p:nvSpPr>
          <p:cNvPr id="19" name="Text 14"/>
          <p:cNvSpPr/>
          <p:nvPr/>
        </p:nvSpPr>
        <p:spPr>
          <a:xfrm>
            <a:off x="6910685" y="2366814"/>
            <a:ext cx="1699605" cy="48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data for training, 20% for testing. </a:t>
            </a:r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</a:t>
            </a:r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ensures reproducible results.</a:t>
            </a:r>
            <a:endParaRPr lang="en-US" sz="790" dirty="0"/>
          </a:p>
        </p:txBody>
      </p:sp>
      <p:sp>
        <p:nvSpPr>
          <p:cNvPr id="20" name="Text 15"/>
          <p:cNvSpPr/>
          <p:nvPr/>
        </p:nvSpPr>
        <p:spPr>
          <a:xfrm>
            <a:off x="6743700" y="3100239"/>
            <a:ext cx="2000250" cy="982117"/>
          </a:xfrm>
          <a:prstGeom prst="roundRect">
            <a:avLst>
              <a:gd name="adj" fmla="val 7242"/>
            </a:avLst>
          </a:prstGeom>
          <a:gradFill rotWithShape="1">
            <a:gsLst>
              <a:gs pos="0">
                <a:srgbClr val="38BDF8">
                  <a:alpha val="12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92463" y="3256443"/>
            <a:ext cx="132588" cy="132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63978" y="3253234"/>
            <a:ext cx="95639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 COLUMN</a:t>
            </a:r>
            <a:endParaRPr lang="en-US" sz="730" dirty="0"/>
          </a:p>
        </p:txBody>
      </p:sp>
      <p:sp>
        <p:nvSpPr>
          <p:cNvPr id="23" name="Text 17"/>
          <p:cNvSpPr/>
          <p:nvPr/>
        </p:nvSpPr>
        <p:spPr>
          <a:xfrm>
            <a:off x="6910685" y="3463230"/>
            <a:ext cx="1699605" cy="48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Mission_Name</a:t>
            </a:r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unique identifier with no predictive value — removed before training.</a:t>
            </a:r>
            <a:endParaRPr lang="en-US" sz="790" dirty="0"/>
          </a:p>
        </p:txBody>
      </p:sp>
      <p:sp>
        <p:nvSpPr>
          <p:cNvPr id="24" name="Text 18"/>
          <p:cNvSpPr/>
          <p:nvPr/>
        </p:nvSpPr>
        <p:spPr>
          <a:xfrm>
            <a:off x="725091" y="5927824"/>
            <a:ext cx="4616532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flow: </a:t>
            </a:r>
            <a:endParaRPr lang="en-US" sz="790" dirty="0"/>
          </a:p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CSV → Drop ID → Encode Categoricals → Split X, y → </a:t>
            </a:r>
            <a:endParaRPr lang="en-US" sz="790" dirty="0"/>
          </a:p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160 training / </a:t>
            </a:r>
            <a:endParaRPr lang="en-US" sz="790" dirty="0"/>
          </a:p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40 test samples</a:t>
            </a:r>
            <a:endParaRPr lang="en-US" sz="790" dirty="0"/>
          </a:p>
        </p:txBody>
      </p:sp>
      <p:sp>
        <p:nvSpPr>
          <p:cNvPr id="25" name="Text 19"/>
          <p:cNvSpPr/>
          <p:nvPr/>
        </p:nvSpPr>
        <p:spPr>
          <a:xfrm>
            <a:off x="409575" y="916930"/>
            <a:ext cx="6123984" cy="21580"/>
          </a:xfrm>
          <a:custGeom>
            <a:avLst/>
            <a:gdLst/>
            <a:ahLst/>
            <a:cxnLst/>
            <a:rect l="l" t="t" r="r" b="b"/>
            <a:pathLst>
              <a:path w="6123984" h="21580">
                <a:moveTo>
                  <a:pt x="71120" y="0"/>
                </a:moveTo>
                <a:lnTo>
                  <a:pt x="6052864" y="0"/>
                </a:lnTo>
                <a:lnTo>
                  <a:pt x="6072266" y="2698"/>
                </a:lnTo>
                <a:lnTo>
                  <a:pt x="6080036" y="5395"/>
                </a:lnTo>
                <a:lnTo>
                  <a:pt x="6085813" y="8093"/>
                </a:lnTo>
                <a:lnTo>
                  <a:pt x="6090525" y="10790"/>
                </a:lnTo>
                <a:lnTo>
                  <a:pt x="6094536" y="13488"/>
                </a:lnTo>
                <a:lnTo>
                  <a:pt x="6098033" y="16185"/>
                </a:lnTo>
                <a:lnTo>
                  <a:pt x="6101127" y="18883"/>
                </a:lnTo>
                <a:lnTo>
                  <a:pt x="6103892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50000">
                <a:srgbClr val="818CF8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753225" y="916930"/>
            <a:ext cx="21580" cy="963063"/>
          </a:xfrm>
          <a:custGeom>
            <a:avLst/>
            <a:gdLst/>
            <a:ahLst/>
            <a:cxnLst/>
            <a:rect l="l" t="t" r="r" b="b"/>
            <a:pathLst>
              <a:path w="21580" h="963063">
                <a:moveTo>
                  <a:pt x="71120" y="0"/>
                </a:moveTo>
                <a:lnTo>
                  <a:pt x="21580" y="0"/>
                </a:lnTo>
                <a:lnTo>
                  <a:pt x="21580" y="963063"/>
                </a:lnTo>
                <a:lnTo>
                  <a:pt x="71120" y="963063"/>
                </a:lnTo>
                <a:lnTo>
                  <a:pt x="0" y="891943"/>
                </a:lnTo>
                <a:lnTo>
                  <a:pt x="1367" y="905818"/>
                </a:lnTo>
                <a:lnTo>
                  <a:pt x="5414" y="919160"/>
                </a:lnTo>
                <a:lnTo>
                  <a:pt x="11986" y="931455"/>
                </a:lnTo>
                <a:lnTo>
                  <a:pt x="20831" y="942233"/>
                </a:lnTo>
                <a:lnTo>
                  <a:pt x="21580" y="951077"/>
                </a:lnTo>
                <a:lnTo>
                  <a:pt x="21580" y="957650"/>
                </a:lnTo>
                <a:lnTo>
                  <a:pt x="21580" y="961697"/>
                </a:lnTo>
                <a:lnTo>
                  <a:pt x="21580" y="963063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6753225" y="2013347"/>
            <a:ext cx="21580" cy="963063"/>
          </a:xfrm>
          <a:custGeom>
            <a:avLst/>
            <a:gdLst/>
            <a:ahLst/>
            <a:cxnLst/>
            <a:rect l="l" t="t" r="r" b="b"/>
            <a:pathLst>
              <a:path w="21580" h="963063">
                <a:moveTo>
                  <a:pt x="71120" y="0"/>
                </a:moveTo>
                <a:lnTo>
                  <a:pt x="21580" y="0"/>
                </a:lnTo>
                <a:lnTo>
                  <a:pt x="21580" y="963063"/>
                </a:lnTo>
                <a:lnTo>
                  <a:pt x="71120" y="963063"/>
                </a:lnTo>
                <a:lnTo>
                  <a:pt x="0" y="891943"/>
                </a:lnTo>
                <a:lnTo>
                  <a:pt x="1367" y="905818"/>
                </a:lnTo>
                <a:lnTo>
                  <a:pt x="5414" y="919160"/>
                </a:lnTo>
                <a:lnTo>
                  <a:pt x="11986" y="931455"/>
                </a:lnTo>
                <a:lnTo>
                  <a:pt x="20831" y="942233"/>
                </a:lnTo>
                <a:lnTo>
                  <a:pt x="21580" y="951077"/>
                </a:lnTo>
                <a:lnTo>
                  <a:pt x="21580" y="957650"/>
                </a:lnTo>
                <a:lnTo>
                  <a:pt x="21580" y="961697"/>
                </a:lnTo>
                <a:lnTo>
                  <a:pt x="21580" y="963063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6753225" y="3109764"/>
            <a:ext cx="21580" cy="963063"/>
          </a:xfrm>
          <a:custGeom>
            <a:avLst/>
            <a:gdLst/>
            <a:ahLst/>
            <a:cxnLst/>
            <a:rect l="l" t="t" r="r" b="b"/>
            <a:pathLst>
              <a:path w="21580" h="963063">
                <a:moveTo>
                  <a:pt x="71120" y="0"/>
                </a:moveTo>
                <a:lnTo>
                  <a:pt x="21580" y="0"/>
                </a:lnTo>
                <a:lnTo>
                  <a:pt x="21580" y="963063"/>
                </a:lnTo>
                <a:lnTo>
                  <a:pt x="71120" y="963063"/>
                </a:lnTo>
                <a:lnTo>
                  <a:pt x="0" y="891943"/>
                </a:lnTo>
                <a:lnTo>
                  <a:pt x="1367" y="905818"/>
                </a:lnTo>
                <a:lnTo>
                  <a:pt x="5414" y="919160"/>
                </a:lnTo>
                <a:lnTo>
                  <a:pt x="11986" y="931455"/>
                </a:lnTo>
                <a:lnTo>
                  <a:pt x="20831" y="942233"/>
                </a:lnTo>
                <a:lnTo>
                  <a:pt x="21580" y="951077"/>
                </a:lnTo>
                <a:lnTo>
                  <a:pt x="21580" y="957650"/>
                </a:lnTo>
                <a:lnTo>
                  <a:pt x="21580" y="961697"/>
                </a:lnTo>
                <a:lnTo>
                  <a:pt x="21580" y="963063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85750"/>
            <a:ext cx="892797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45"/>
              </a:lnSpc>
              <a:spcAft>
                <a:spcPts val="340"/>
              </a:spcAft>
              <a:buNone/>
            </a:pPr>
            <a:r>
              <a:rPr lang="en-US" sz="2030" spc="-30" kern="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Classifier — </a:t>
            </a:r>
            <a:pPr algn="l" indent="0" marL="0">
              <a:lnSpc>
                <a:spcPts val="3045"/>
              </a:lnSpc>
              <a:spcAft>
                <a:spcPts val="340"/>
              </a:spcAft>
              <a:buNone/>
            </a:pPr>
            <a:r>
              <a:rPr lang="en-US" sz="2030" b="1" spc="-3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00050" y="715566"/>
            <a:ext cx="429220" cy="2158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14240" y="908596"/>
            <a:ext cx="2857500" cy="475804"/>
          </a:xfrm>
          <a:prstGeom prst="roundRect">
            <a:avLst>
              <a:gd name="adj" fmla="val 14947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5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9102" y="1008468"/>
            <a:ext cx="132588" cy="1325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39194" y="989112"/>
            <a:ext cx="7964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133302" y="1174403"/>
            <a:ext cx="261937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Samples (with replacement)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1807220" y="1490960"/>
            <a:ext cx="13841" cy="10656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436069" y="1490960"/>
            <a:ext cx="13841" cy="10656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064919" y="1490960"/>
            <a:ext cx="13841" cy="10656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814215" y="1599009"/>
            <a:ext cx="857250" cy="654695"/>
          </a:xfrm>
          <a:prstGeom prst="roundRect">
            <a:avLst>
              <a:gd name="adj" fmla="val 10863"/>
            </a:avLst>
          </a:prstGeom>
          <a:solidFill>
            <a:srgbClr val="152238"/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922785" y="1679525"/>
            <a:ext cx="64011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</a:t>
            </a:r>
            <a:endParaRPr lang="en-US" sz="79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1881" y="1873151"/>
            <a:ext cx="428625" cy="3000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14365" y="1599009"/>
            <a:ext cx="857250" cy="654695"/>
          </a:xfrm>
          <a:prstGeom prst="roundRect">
            <a:avLst>
              <a:gd name="adj" fmla="val 10863"/>
            </a:avLst>
          </a:prstGeom>
          <a:solidFill>
            <a:srgbClr val="152238"/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122935" y="1679525"/>
            <a:ext cx="64011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</a:t>
            </a:r>
            <a:endParaRPr lang="en-US" sz="79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52031" y="1873151"/>
            <a:ext cx="428625" cy="3000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14515" y="1599009"/>
            <a:ext cx="857250" cy="654695"/>
          </a:xfrm>
          <a:prstGeom prst="roundRect">
            <a:avLst>
              <a:gd name="adj" fmla="val 10863"/>
            </a:avLst>
          </a:prstGeom>
          <a:solidFill>
            <a:srgbClr val="152238"/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4323085" y="1679525"/>
            <a:ext cx="64011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Tree 100</a:t>
            </a:r>
            <a:endParaRPr lang="en-US" sz="79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52181" y="1873151"/>
            <a:ext cx="428625" cy="3000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07220" y="2255193"/>
            <a:ext cx="13841" cy="10656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3436069" y="2255193"/>
            <a:ext cx="13841" cy="10656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5064919" y="2255193"/>
            <a:ext cx="13841" cy="10656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 rot="10800000">
            <a:off x="3414415" y="2465636"/>
            <a:ext cx="57150" cy="38100"/>
          </a:xfrm>
          <a:prstGeom prst="triangl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2157115" y="2468314"/>
            <a:ext cx="2571750" cy="452884"/>
          </a:xfrm>
          <a:prstGeom prst="roundRect">
            <a:avLst>
              <a:gd name="adj" fmla="val 15704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5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04055" y="2562532"/>
            <a:ext cx="132588" cy="132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721434" y="2548830"/>
            <a:ext cx="162155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 / Aggregation</a:t>
            </a:r>
            <a:endParaRPr lang="en-US" sz="840" dirty="0"/>
          </a:p>
        </p:txBody>
      </p:sp>
      <p:sp>
        <p:nvSpPr>
          <p:cNvPr id="27" name="Text 20"/>
          <p:cNvSpPr/>
          <p:nvPr/>
        </p:nvSpPr>
        <p:spPr>
          <a:xfrm>
            <a:off x="2290465" y="2722662"/>
            <a:ext cx="230505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votes → Most common class wins</a:t>
            </a:r>
            <a:endParaRPr lang="en-US" sz="620" dirty="0"/>
          </a:p>
        </p:txBody>
      </p:sp>
      <p:sp>
        <p:nvSpPr>
          <p:cNvPr id="28" name="Text 21"/>
          <p:cNvSpPr/>
          <p:nvPr/>
        </p:nvSpPr>
        <p:spPr>
          <a:xfrm>
            <a:off x="3435995" y="2921198"/>
            <a:ext cx="13841" cy="12814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2322165" y="3049339"/>
            <a:ext cx="2241649" cy="332482"/>
          </a:xfrm>
          <a:prstGeom prst="roundRect">
            <a:avLst>
              <a:gd name="adj" fmla="val 21391"/>
            </a:avLst>
          </a:prstGeom>
          <a:gradFill rotWithShape="1">
            <a:gsLst>
              <a:gs pos="0">
                <a:srgbClr val="38BDF8">
                  <a:alpha val="25000"/>
                </a:srgbClr>
              </a:gs>
              <a:gs pos="100000">
                <a:srgbClr val="38BDF8">
                  <a:alpha val="8000"/>
                </a:srgbClr>
              </a:gs>
            </a:gsLst>
            <a:lin ang="2700000" scaled="1"/>
          </a:gradFill>
          <a:ln w="9525">
            <a:solidFill>
              <a:srgbClr val="38BDF8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19818" y="3149212"/>
            <a:ext cx="132588" cy="1325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628766" y="3129855"/>
            <a:ext cx="18070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Prediction: Mission Type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6743700" y="965746"/>
            <a:ext cx="2000250" cy="1361926"/>
          </a:xfrm>
          <a:prstGeom prst="roundRect">
            <a:avLst>
              <a:gd name="adj" fmla="val 5222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78473" y="1103197"/>
            <a:ext cx="132588" cy="1325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049988" y="1089571"/>
            <a:ext cx="96442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840" dirty="0"/>
          </a:p>
        </p:txBody>
      </p:sp>
      <p:sp>
        <p:nvSpPr>
          <p:cNvPr id="35" name="Text 26"/>
          <p:cNvSpPr/>
          <p:nvPr/>
        </p:nvSpPr>
        <p:spPr>
          <a:xfrm>
            <a:off x="6896695" y="1545729"/>
            <a:ext cx="1694259" cy="9525"/>
          </a:xfrm>
          <a:prstGeom prst="rect">
            <a:avLst/>
          </a:prstGeom>
          <a:solidFill>
            <a:srgbClr val="8B9BB8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7"/>
          <p:cNvSpPr/>
          <p:nvPr/>
        </p:nvSpPr>
        <p:spPr>
          <a:xfrm>
            <a:off x="6896695" y="1371302"/>
            <a:ext cx="73571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730" dirty="0"/>
          </a:p>
        </p:txBody>
      </p:sp>
      <p:sp>
        <p:nvSpPr>
          <p:cNvPr id="37" name="Text 28"/>
          <p:cNvSpPr/>
          <p:nvPr/>
        </p:nvSpPr>
        <p:spPr>
          <a:xfrm>
            <a:off x="7622679" y="1376065"/>
            <a:ext cx="5549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680" dirty="0"/>
          </a:p>
        </p:txBody>
      </p:sp>
      <p:sp>
        <p:nvSpPr>
          <p:cNvPr id="38" name="Text 29"/>
          <p:cNvSpPr/>
          <p:nvPr/>
        </p:nvSpPr>
        <p:spPr>
          <a:xfrm>
            <a:off x="7730282" y="1371302"/>
            <a:ext cx="18401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730" dirty="0"/>
          </a:p>
        </p:txBody>
      </p:sp>
      <p:sp>
        <p:nvSpPr>
          <p:cNvPr id="39" name="Text 30"/>
          <p:cNvSpPr/>
          <p:nvPr/>
        </p:nvSpPr>
        <p:spPr>
          <a:xfrm>
            <a:off x="6896695" y="1765102"/>
            <a:ext cx="1694259" cy="9525"/>
          </a:xfrm>
          <a:prstGeom prst="rect">
            <a:avLst/>
          </a:prstGeom>
          <a:solidFill>
            <a:srgbClr val="8B9BB8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1"/>
          <p:cNvSpPr/>
          <p:nvPr/>
        </p:nvSpPr>
        <p:spPr>
          <a:xfrm>
            <a:off x="6896695" y="1590675"/>
            <a:ext cx="55187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criterion</a:t>
            </a:r>
            <a:endParaRPr lang="en-US" sz="730" dirty="0"/>
          </a:p>
        </p:txBody>
      </p:sp>
      <p:sp>
        <p:nvSpPr>
          <p:cNvPr id="41" name="Text 32"/>
          <p:cNvSpPr/>
          <p:nvPr/>
        </p:nvSpPr>
        <p:spPr>
          <a:xfrm>
            <a:off x="7455545" y="1595438"/>
            <a:ext cx="5549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680" dirty="0"/>
          </a:p>
        </p:txBody>
      </p:sp>
      <p:sp>
        <p:nvSpPr>
          <p:cNvPr id="42" name="Text 33"/>
          <p:cNvSpPr/>
          <p:nvPr/>
        </p:nvSpPr>
        <p:spPr>
          <a:xfrm>
            <a:off x="7563148" y="1590675"/>
            <a:ext cx="24523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</a:t>
            </a:r>
            <a:endParaRPr lang="en-US" sz="730" dirty="0"/>
          </a:p>
        </p:txBody>
      </p:sp>
      <p:sp>
        <p:nvSpPr>
          <p:cNvPr id="43" name="Text 34"/>
          <p:cNvSpPr/>
          <p:nvPr/>
        </p:nvSpPr>
        <p:spPr>
          <a:xfrm>
            <a:off x="6896695" y="1984474"/>
            <a:ext cx="1694259" cy="9525"/>
          </a:xfrm>
          <a:prstGeom prst="rect">
            <a:avLst/>
          </a:prstGeom>
          <a:solidFill>
            <a:srgbClr val="8B9BB8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5"/>
          <p:cNvSpPr/>
          <p:nvPr/>
        </p:nvSpPr>
        <p:spPr>
          <a:xfrm>
            <a:off x="6896695" y="1810048"/>
            <a:ext cx="55187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</a:t>
            </a:r>
            <a:endParaRPr lang="en-US" sz="730" dirty="0"/>
          </a:p>
        </p:txBody>
      </p:sp>
      <p:sp>
        <p:nvSpPr>
          <p:cNvPr id="45" name="Text 36"/>
          <p:cNvSpPr/>
          <p:nvPr/>
        </p:nvSpPr>
        <p:spPr>
          <a:xfrm>
            <a:off x="7455545" y="1814810"/>
            <a:ext cx="5549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680" dirty="0"/>
          </a:p>
        </p:txBody>
      </p:sp>
      <p:sp>
        <p:nvSpPr>
          <p:cNvPr id="46" name="Text 37"/>
          <p:cNvSpPr/>
          <p:nvPr/>
        </p:nvSpPr>
        <p:spPr>
          <a:xfrm>
            <a:off x="7563148" y="1810048"/>
            <a:ext cx="24523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730" dirty="0"/>
          </a:p>
        </p:txBody>
      </p:sp>
      <p:sp>
        <p:nvSpPr>
          <p:cNvPr id="47" name="Text 38"/>
          <p:cNvSpPr/>
          <p:nvPr/>
        </p:nvSpPr>
        <p:spPr>
          <a:xfrm>
            <a:off x="6896695" y="2029420"/>
            <a:ext cx="73571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</a:t>
            </a:r>
            <a:endParaRPr lang="en-US" sz="730" dirty="0"/>
          </a:p>
        </p:txBody>
      </p:sp>
      <p:sp>
        <p:nvSpPr>
          <p:cNvPr id="48" name="Text 39"/>
          <p:cNvSpPr/>
          <p:nvPr/>
        </p:nvSpPr>
        <p:spPr>
          <a:xfrm>
            <a:off x="7622679" y="2034183"/>
            <a:ext cx="5549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680" dirty="0"/>
          </a:p>
        </p:txBody>
      </p:sp>
      <p:sp>
        <p:nvSpPr>
          <p:cNvPr id="49" name="Text 40"/>
          <p:cNvSpPr/>
          <p:nvPr/>
        </p:nvSpPr>
        <p:spPr>
          <a:xfrm>
            <a:off x="7730282" y="2029420"/>
            <a:ext cx="12261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730" dirty="0"/>
          </a:p>
        </p:txBody>
      </p:sp>
      <p:sp>
        <p:nvSpPr>
          <p:cNvPr id="50" name="Text 41"/>
          <p:cNvSpPr/>
          <p:nvPr/>
        </p:nvSpPr>
        <p:spPr>
          <a:xfrm>
            <a:off x="6743700" y="2471142"/>
            <a:ext cx="2000250" cy="2132409"/>
          </a:xfrm>
          <a:prstGeom prst="roundRect">
            <a:avLst>
              <a:gd name="adj" fmla="val 3556"/>
            </a:avLst>
          </a:prstGeom>
          <a:solidFill>
            <a:srgbClr val="152238"/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78473" y="2608594"/>
            <a:ext cx="132588" cy="132588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7049988" y="2594967"/>
            <a:ext cx="78172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840" dirty="0"/>
          </a:p>
        </p:txBody>
      </p:sp>
      <p:sp>
        <p:nvSpPr>
          <p:cNvPr id="53" name="Text 43"/>
          <p:cNvSpPr/>
          <p:nvPr/>
        </p:nvSpPr>
        <p:spPr>
          <a:xfrm>
            <a:off x="6896695" y="2825948"/>
            <a:ext cx="11034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68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30" dirty="0"/>
          </a:p>
        </p:txBody>
      </p:sp>
      <p:sp>
        <p:nvSpPr>
          <p:cNvPr id="54" name="Text 44"/>
          <p:cNvSpPr/>
          <p:nvPr/>
        </p:nvSpPr>
        <p:spPr>
          <a:xfrm>
            <a:off x="7054155" y="2825948"/>
            <a:ext cx="1567535" cy="466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8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Bootstrap: Each tree trains on a random sample drawn with replacement</a:t>
            </a:r>
            <a:endParaRPr lang="en-US" sz="730" dirty="0"/>
          </a:p>
        </p:txBody>
      </p:sp>
      <p:sp>
        <p:nvSpPr>
          <p:cNvPr id="55" name="Text 45"/>
          <p:cNvSpPr/>
          <p:nvPr/>
        </p:nvSpPr>
        <p:spPr>
          <a:xfrm>
            <a:off x="6896695" y="3327797"/>
            <a:ext cx="11034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68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30" dirty="0"/>
          </a:p>
        </p:txBody>
      </p:sp>
      <p:sp>
        <p:nvSpPr>
          <p:cNvPr id="56" name="Text 46"/>
          <p:cNvSpPr/>
          <p:nvPr/>
        </p:nvSpPr>
        <p:spPr>
          <a:xfrm>
            <a:off x="7054155" y="3327797"/>
            <a:ext cx="1567535" cy="466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8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Impurity: Measures how often a random element would be misclassified</a:t>
            </a:r>
            <a:endParaRPr lang="en-US" sz="730" dirty="0"/>
          </a:p>
        </p:txBody>
      </p:sp>
      <p:sp>
        <p:nvSpPr>
          <p:cNvPr id="57" name="Text 47"/>
          <p:cNvSpPr/>
          <p:nvPr/>
        </p:nvSpPr>
        <p:spPr>
          <a:xfrm>
            <a:off x="6896695" y="3829645"/>
            <a:ext cx="11034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68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30" dirty="0"/>
          </a:p>
        </p:txBody>
      </p:sp>
      <p:sp>
        <p:nvSpPr>
          <p:cNvPr id="58" name="Text 48"/>
          <p:cNvSpPr/>
          <p:nvPr/>
        </p:nvSpPr>
        <p:spPr>
          <a:xfrm>
            <a:off x="7054155" y="3829645"/>
            <a:ext cx="1567535" cy="311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8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Combines 100 weak learners into one strong classifier</a:t>
            </a:r>
            <a:endParaRPr lang="en-US" sz="730" dirty="0"/>
          </a:p>
        </p:txBody>
      </p:sp>
      <p:sp>
        <p:nvSpPr>
          <p:cNvPr id="59" name="Text 49"/>
          <p:cNvSpPr/>
          <p:nvPr/>
        </p:nvSpPr>
        <p:spPr>
          <a:xfrm>
            <a:off x="6896695" y="4183261"/>
            <a:ext cx="11034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68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30" dirty="0"/>
          </a:p>
        </p:txBody>
      </p:sp>
      <p:sp>
        <p:nvSpPr>
          <p:cNvPr id="60" name="Text 50"/>
          <p:cNvSpPr/>
          <p:nvPr/>
        </p:nvSpPr>
        <p:spPr>
          <a:xfrm>
            <a:off x="7054155" y="4183261"/>
            <a:ext cx="1567535" cy="311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8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Voting: Final class = most-predicted class across all trees</a:t>
            </a:r>
            <a:endParaRPr lang="en-US" sz="730" dirty="0"/>
          </a:p>
        </p:txBody>
      </p:sp>
      <p:sp>
        <p:nvSpPr>
          <p:cNvPr id="61" name="Text 51"/>
          <p:cNvSpPr/>
          <p:nvPr/>
        </p:nvSpPr>
        <p:spPr>
          <a:xfrm>
            <a:off x="1785491" y="1604367"/>
            <a:ext cx="57150" cy="2857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2"/>
          <p:cNvSpPr/>
          <p:nvPr/>
        </p:nvSpPr>
        <p:spPr>
          <a:xfrm>
            <a:off x="3414340" y="1604367"/>
            <a:ext cx="57150" cy="2857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3"/>
          <p:cNvSpPr/>
          <p:nvPr/>
        </p:nvSpPr>
        <p:spPr>
          <a:xfrm>
            <a:off x="5043190" y="1604367"/>
            <a:ext cx="57150" cy="2857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4"/>
          <p:cNvSpPr/>
          <p:nvPr/>
        </p:nvSpPr>
        <p:spPr>
          <a:xfrm>
            <a:off x="3414266" y="3046661"/>
            <a:ext cx="57150" cy="381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5"/>
          <p:cNvSpPr/>
          <p:nvPr/>
        </p:nvSpPr>
        <p:spPr>
          <a:xfrm>
            <a:off x="3436067" y="1384399"/>
            <a:ext cx="13841" cy="10656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56"/>
          <p:cNvSpPr/>
          <p:nvPr/>
        </p:nvSpPr>
        <p:spPr>
          <a:xfrm>
            <a:off x="1807220" y="1491079"/>
            <a:ext cx="3271390" cy="1384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57"/>
          <p:cNvSpPr/>
          <p:nvPr/>
        </p:nvSpPr>
        <p:spPr>
          <a:xfrm>
            <a:off x="3436067" y="2361754"/>
            <a:ext cx="13841" cy="10656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58"/>
          <p:cNvSpPr/>
          <p:nvPr/>
        </p:nvSpPr>
        <p:spPr>
          <a:xfrm>
            <a:off x="1807220" y="2347912"/>
            <a:ext cx="3271390" cy="1384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400943"/>
            <a:ext cx="314920" cy="314920"/>
          </a:xfrm>
          <a:prstGeom prst="roundRect">
            <a:avLst>
              <a:gd name="adj" fmla="val 22584"/>
            </a:avLst>
          </a:prstGeom>
          <a:gradFill rotWithShape="1">
            <a:gsLst>
              <a:gs pos="0">
                <a:srgbClr val="38BDF8">
                  <a:alpha val="20000"/>
                </a:srgbClr>
              </a:gs>
              <a:gs pos="100000">
                <a:srgbClr val="818CF8">
                  <a:alpha val="15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1216" y="492109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5280" y="342900"/>
            <a:ext cx="3682725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E8EDF4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Model Training — Code Snippet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5280" y="623441"/>
            <a:ext cx="378597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spcBef>
                <a:spcPts val="230"/>
              </a:spcBef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 · scikit-learn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400050" y="1002506"/>
            <a:ext cx="6143030" cy="4140994"/>
          </a:xfrm>
          <a:prstGeom prst="roundRect">
            <a:avLst>
              <a:gd name="adj" fmla="val 171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38175" y="1213693"/>
            <a:ext cx="86320" cy="86320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81645" y="1213693"/>
            <a:ext cx="86320" cy="86320"/>
          </a:xfrm>
          <a:prstGeom prst="ellipse">
            <a:avLst/>
          </a:prstGeom>
          <a:solidFill>
            <a:srgbClr val="FEBC2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25116" y="1213693"/>
            <a:ext cx="86320" cy="86320"/>
          </a:xfrm>
          <a:prstGeom prst="ellipse">
            <a:avLst/>
          </a:prstGeom>
          <a:solidFill>
            <a:srgbClr val="28C84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125736" y="1183481"/>
            <a:ext cx="799073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5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train_model.py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638175" y="1444526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sklearn.ensemble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RandomForestClassifier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638175" y="1621631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sklearn.metrics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accuracy_score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classification_report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638175" y="1798737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sklearn.metrics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confusion_matrix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638175" y="1975842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638175" y="2152948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pPr algn="l" indent="0" marL="0">
              <a:lnSpc>
                <a:spcPts val="1394"/>
              </a:lnSpc>
              <a:buNone/>
            </a:pPr>
            <a:r>
              <a:rPr lang="en-US" sz="82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Initialize RandomForest model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638175" y="2330053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RandomForestClassifier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638175" y="2507159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638175" y="2684264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criterion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'gini'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638175" y="2861370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638175" y="3038475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638175" y="3215580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638175" y="3392686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algn="l" indent="0" marL="0">
              <a:lnSpc>
                <a:spcPts val="1394"/>
              </a:lnSpc>
              <a:buNone/>
            </a:pPr>
            <a:r>
              <a:rPr lang="en-US" sz="82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 the model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638175" y="3569791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638175" y="3746897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638175" y="3924002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pPr algn="l" indent="0" marL="0">
              <a:lnSpc>
                <a:spcPts val="1394"/>
              </a:lnSpc>
              <a:buNone/>
            </a:pPr>
            <a:r>
              <a:rPr lang="en-US" sz="82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Make predictions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638175" y="4101108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638175" y="4278213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638175" y="4455319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algn="l" indent="0" marL="0">
              <a:lnSpc>
                <a:spcPts val="1394"/>
              </a:lnSpc>
              <a:buNone/>
            </a:pPr>
            <a:r>
              <a:rPr lang="en-US" sz="82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Evaluate accuracy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638175" y="4632424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accuracy_score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y_test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638175" y="4809530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f'Accuracy: {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:.2f}'</a:t>
            </a:r>
            <a:pPr algn="l" indent="0" marL="0">
              <a:lnSpc>
                <a:spcPts val="1394"/>
              </a:lnSpc>
              <a:buNone/>
            </a:pP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pPr algn="l" indent="0" marL="0">
              <a:lnSpc>
                <a:spcPts val="1394"/>
              </a:lnSpc>
              <a:buNone/>
            </a:pPr>
            <a:r>
              <a:rPr lang="en-US" sz="82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1.00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6743700" y="1002506"/>
            <a:ext cx="2000250" cy="838200"/>
          </a:xfrm>
          <a:prstGeom prst="roundRect">
            <a:avLst>
              <a:gd name="adj" fmla="val 10303"/>
            </a:avLst>
          </a:prstGeom>
          <a:gradFill rotWithShape="1">
            <a:gsLst>
              <a:gs pos="0">
                <a:srgbClr val="38BDF8">
                  <a:alpha val="12000"/>
                </a:srgbClr>
              </a:gs>
              <a:gs pos="100000">
                <a:srgbClr val="38BDF8">
                  <a:alpha val="4000"/>
                </a:srgbClr>
              </a:gs>
            </a:gsLst>
            <a:lin ang="2700000" scaled="1"/>
          </a:gra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6023" y="1164440"/>
            <a:ext cx="132588" cy="13258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103269" y="1155502"/>
            <a:ext cx="360983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90" dirty="0"/>
          </a:p>
        </p:txBody>
      </p:sp>
      <p:sp>
        <p:nvSpPr>
          <p:cNvPr id="34" name="Text 30"/>
          <p:cNvSpPr/>
          <p:nvPr/>
        </p:nvSpPr>
        <p:spPr>
          <a:xfrm>
            <a:off x="6938516" y="1376958"/>
            <a:ext cx="1671218" cy="326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achieves </a:t>
            </a:r>
            <a:pPr algn="l" indent="0" marL="0">
              <a:lnSpc>
                <a:spcPts val="122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accuracy</a:t>
            </a:r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synthetic test set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6743700" y="1968847"/>
            <a:ext cx="2000250" cy="478631"/>
          </a:xfrm>
          <a:prstGeom prst="roundRect">
            <a:avLst>
              <a:gd name="adj" fmla="val 14859"/>
            </a:avLst>
          </a:prstGeom>
          <a:gradFill rotWithShape="1">
            <a:gsLst>
              <a:gs pos="0">
                <a:srgbClr val="38BDF8"/>
              </a:gs>
              <a:gs pos="100000">
                <a:srgbClr val="818CF8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6887170" y="2079278"/>
            <a:ext cx="53665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b="1" dirty="0">
                <a:solidFill>
                  <a:srgbClr val="E8EDF4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1.00</a:t>
            </a:r>
            <a:endParaRPr lang="en-US" sz="2030" dirty="0"/>
          </a:p>
        </p:txBody>
      </p:sp>
      <p:sp>
        <p:nvSpPr>
          <p:cNvPr id="37" name="Text 33"/>
          <p:cNvSpPr/>
          <p:nvPr/>
        </p:nvSpPr>
        <p:spPr>
          <a:xfrm>
            <a:off x="7475041" y="2069157"/>
            <a:ext cx="61620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30" kern="0" dirty="0">
                <a:solidFill>
                  <a:srgbClr val="E8ED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30" dirty="0"/>
          </a:p>
        </p:txBody>
      </p:sp>
      <p:sp>
        <p:nvSpPr>
          <p:cNvPr id="38" name="Text 34"/>
          <p:cNvSpPr/>
          <p:nvPr/>
        </p:nvSpPr>
        <p:spPr>
          <a:xfrm>
            <a:off x="7475041" y="2208163"/>
            <a:ext cx="61620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30" kern="0" dirty="0">
                <a:solidFill>
                  <a:srgbClr val="E8ED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30" dirty="0"/>
          </a:p>
        </p:txBody>
      </p:sp>
      <p:sp>
        <p:nvSpPr>
          <p:cNvPr id="39" name="Text 35"/>
          <p:cNvSpPr/>
          <p:nvPr/>
        </p:nvSpPr>
        <p:spPr>
          <a:xfrm>
            <a:off x="6743700" y="2575620"/>
            <a:ext cx="2000250" cy="1156692"/>
          </a:xfrm>
          <a:prstGeom prst="roundRect">
            <a:avLst>
              <a:gd name="adj" fmla="val 6149"/>
            </a:avLst>
          </a:prstGeom>
          <a:solidFill>
            <a:srgbClr val="152238"/>
          </a:solidFill>
          <a:ln w="9525">
            <a:solidFill>
              <a:srgbClr val="8B9BB8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896695" y="2713286"/>
            <a:ext cx="186368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50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730" dirty="0"/>
          </a:p>
        </p:txBody>
      </p:sp>
      <p:sp>
        <p:nvSpPr>
          <p:cNvPr id="41" name="Text 37"/>
          <p:cNvSpPr/>
          <p:nvPr/>
        </p:nvSpPr>
        <p:spPr>
          <a:xfrm>
            <a:off x="6896695" y="2966442"/>
            <a:ext cx="58297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730" dirty="0"/>
          </a:p>
        </p:txBody>
      </p:sp>
      <p:sp>
        <p:nvSpPr>
          <p:cNvPr id="42" name="Text 38"/>
          <p:cNvSpPr/>
          <p:nvPr/>
        </p:nvSpPr>
        <p:spPr>
          <a:xfrm>
            <a:off x="8306556" y="2952601"/>
            <a:ext cx="287214" cy="166688"/>
          </a:xfrm>
          <a:prstGeom prst="roundRect">
            <a:avLst>
              <a:gd name="adj" fmla="val 1752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730" dirty="0"/>
          </a:p>
        </p:txBody>
      </p:sp>
      <p:sp>
        <p:nvSpPr>
          <p:cNvPr id="43" name="Text 39"/>
          <p:cNvSpPr/>
          <p:nvPr/>
        </p:nvSpPr>
        <p:spPr>
          <a:xfrm>
            <a:off x="6896695" y="3204121"/>
            <a:ext cx="3622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730" dirty="0"/>
          </a:p>
        </p:txBody>
      </p:sp>
      <p:sp>
        <p:nvSpPr>
          <p:cNvPr id="44" name="Text 40"/>
          <p:cNvSpPr/>
          <p:nvPr/>
        </p:nvSpPr>
        <p:spPr>
          <a:xfrm>
            <a:off x="8250338" y="3190280"/>
            <a:ext cx="343989" cy="166688"/>
          </a:xfrm>
          <a:prstGeom prst="roundRect">
            <a:avLst>
              <a:gd name="adj" fmla="val 1752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</a:t>
            </a:r>
            <a:endParaRPr lang="en-US" sz="730" dirty="0"/>
          </a:p>
        </p:txBody>
      </p:sp>
      <p:sp>
        <p:nvSpPr>
          <p:cNvPr id="45" name="Text 41"/>
          <p:cNvSpPr/>
          <p:nvPr/>
        </p:nvSpPr>
        <p:spPr>
          <a:xfrm>
            <a:off x="6896695" y="3441799"/>
            <a:ext cx="62275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730" dirty="0"/>
          </a:p>
        </p:txBody>
      </p:sp>
      <p:sp>
        <p:nvSpPr>
          <p:cNvPr id="46" name="Text 42"/>
          <p:cNvSpPr/>
          <p:nvPr/>
        </p:nvSpPr>
        <p:spPr>
          <a:xfrm>
            <a:off x="8362925" y="3427958"/>
            <a:ext cx="230288" cy="166688"/>
          </a:xfrm>
          <a:prstGeom prst="roundRect">
            <a:avLst>
              <a:gd name="adj" fmla="val 1752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730" dirty="0"/>
          </a:p>
        </p:txBody>
      </p:sp>
      <p:sp>
        <p:nvSpPr>
          <p:cNvPr id="47" name="Text 43"/>
          <p:cNvSpPr/>
          <p:nvPr/>
        </p:nvSpPr>
        <p:spPr>
          <a:xfrm>
            <a:off x="6743700" y="3860453"/>
            <a:ext cx="2000250" cy="862013"/>
          </a:xfrm>
          <a:prstGeom prst="roundRect">
            <a:avLst>
              <a:gd name="adj" fmla="val 8250"/>
            </a:avLst>
          </a:prstGeom>
          <a:solidFill>
            <a:srgbClr val="152238"/>
          </a:solidFill>
          <a:ln w="9525">
            <a:solidFill>
              <a:srgbClr val="8B9BB8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6896695" y="3984278"/>
            <a:ext cx="157460" cy="173206"/>
          </a:xfrm>
          <a:prstGeom prst="ellipse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" dirty="0"/>
          </a:p>
        </p:txBody>
      </p:sp>
      <p:sp>
        <p:nvSpPr>
          <p:cNvPr id="49" name="Text 45"/>
          <p:cNvSpPr/>
          <p:nvPr/>
        </p:nvSpPr>
        <p:spPr>
          <a:xfrm>
            <a:off x="7125146" y="3993505"/>
            <a:ext cx="79236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classifier</a:t>
            </a:r>
            <a:endParaRPr lang="en-US" sz="730" dirty="0"/>
          </a:p>
        </p:txBody>
      </p:sp>
      <p:sp>
        <p:nvSpPr>
          <p:cNvPr id="50" name="Text 46"/>
          <p:cNvSpPr/>
          <p:nvPr/>
        </p:nvSpPr>
        <p:spPr>
          <a:xfrm>
            <a:off x="6896695" y="4212729"/>
            <a:ext cx="157460" cy="173206"/>
          </a:xfrm>
          <a:prstGeom prst="ellipse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20" dirty="0"/>
          </a:p>
        </p:txBody>
      </p:sp>
      <p:sp>
        <p:nvSpPr>
          <p:cNvPr id="51" name="Text 47"/>
          <p:cNvSpPr/>
          <p:nvPr/>
        </p:nvSpPr>
        <p:spPr>
          <a:xfrm>
            <a:off x="7125146" y="4221956"/>
            <a:ext cx="84343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training data</a:t>
            </a:r>
            <a:endParaRPr lang="en-US" sz="730" dirty="0"/>
          </a:p>
        </p:txBody>
      </p:sp>
      <p:sp>
        <p:nvSpPr>
          <p:cNvPr id="52" name="Text 48"/>
          <p:cNvSpPr/>
          <p:nvPr/>
        </p:nvSpPr>
        <p:spPr>
          <a:xfrm>
            <a:off x="6896695" y="4441180"/>
            <a:ext cx="157460" cy="173206"/>
          </a:xfrm>
          <a:prstGeom prst="ellipse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7125146" y="4450407"/>
            <a:ext cx="82641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evaluate</a:t>
            </a:r>
            <a:endParaRPr lang="en-US" sz="730" dirty="0"/>
          </a:p>
        </p:txBody>
      </p:sp>
      <p:sp>
        <p:nvSpPr>
          <p:cNvPr id="54" name="Text 50"/>
          <p:cNvSpPr/>
          <p:nvPr/>
        </p:nvSpPr>
        <p:spPr>
          <a:xfrm>
            <a:off x="409575" y="1012031"/>
            <a:ext cx="6123984" cy="21580"/>
          </a:xfrm>
          <a:custGeom>
            <a:avLst/>
            <a:gdLst/>
            <a:ahLst/>
            <a:cxnLst/>
            <a:rect l="l" t="t" r="r" b="b"/>
            <a:pathLst>
              <a:path w="6123984" h="21580">
                <a:moveTo>
                  <a:pt x="71120" y="0"/>
                </a:moveTo>
                <a:lnTo>
                  <a:pt x="6052864" y="0"/>
                </a:lnTo>
                <a:lnTo>
                  <a:pt x="6072266" y="2698"/>
                </a:lnTo>
                <a:lnTo>
                  <a:pt x="6080036" y="5395"/>
                </a:lnTo>
                <a:lnTo>
                  <a:pt x="6085813" y="8093"/>
                </a:lnTo>
                <a:lnTo>
                  <a:pt x="6090525" y="10790"/>
                </a:lnTo>
                <a:lnTo>
                  <a:pt x="6094536" y="13488"/>
                </a:lnTo>
                <a:lnTo>
                  <a:pt x="6098033" y="16185"/>
                </a:lnTo>
                <a:lnTo>
                  <a:pt x="6101127" y="18883"/>
                </a:lnTo>
                <a:lnTo>
                  <a:pt x="6103892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50000">
                <a:srgbClr val="818CF8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6753225" y="1126331"/>
            <a:ext cx="21580" cy="59055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8751" cy="31445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249" y="1998939"/>
            <a:ext cx="4288751" cy="314456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122587" y="3060055"/>
            <a:ext cx="1469679" cy="21580"/>
          </a:xfrm>
          <a:custGeom>
            <a:avLst/>
            <a:gdLst/>
            <a:ahLst/>
            <a:cxnLst/>
            <a:rect l="l" t="t" r="r" b="b"/>
            <a:pathLst>
              <a:path w="1469679" h="21580">
                <a:moveTo>
                  <a:pt x="86360" y="0"/>
                </a:moveTo>
                <a:lnTo>
                  <a:pt x="1383319" y="0"/>
                </a:lnTo>
                <a:lnTo>
                  <a:pt x="1404735" y="2698"/>
                </a:lnTo>
                <a:lnTo>
                  <a:pt x="1413364" y="5395"/>
                </a:lnTo>
                <a:lnTo>
                  <a:pt x="1419819" y="8093"/>
                </a:lnTo>
                <a:lnTo>
                  <a:pt x="1425119" y="10790"/>
                </a:lnTo>
                <a:lnTo>
                  <a:pt x="1429662" y="13488"/>
                </a:lnTo>
                <a:lnTo>
                  <a:pt x="1433653" y="16185"/>
                </a:lnTo>
                <a:lnTo>
                  <a:pt x="1437215" y="18883"/>
                </a:lnTo>
                <a:lnTo>
                  <a:pt x="1440429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3897064" y="3060055"/>
            <a:ext cx="1409700" cy="21580"/>
          </a:xfrm>
          <a:custGeom>
            <a:avLst/>
            <a:gdLst/>
            <a:ahLst/>
            <a:cxnLst/>
            <a:rect l="l" t="t" r="r" b="b"/>
            <a:pathLst>
              <a:path w="1409700" h="21580">
                <a:moveTo>
                  <a:pt x="86360" y="0"/>
                </a:moveTo>
                <a:lnTo>
                  <a:pt x="1323340" y="0"/>
                </a:lnTo>
                <a:lnTo>
                  <a:pt x="1344756" y="2698"/>
                </a:lnTo>
                <a:lnTo>
                  <a:pt x="1353385" y="5395"/>
                </a:lnTo>
                <a:lnTo>
                  <a:pt x="1359840" y="8093"/>
                </a:lnTo>
                <a:lnTo>
                  <a:pt x="1365140" y="10790"/>
                </a:lnTo>
                <a:lnTo>
                  <a:pt x="1369683" y="13488"/>
                </a:lnTo>
                <a:lnTo>
                  <a:pt x="1373674" y="16185"/>
                </a:lnTo>
                <a:lnTo>
                  <a:pt x="1377237" y="18883"/>
                </a:lnTo>
                <a:lnTo>
                  <a:pt x="138045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5611564" y="3060055"/>
            <a:ext cx="1409700" cy="21580"/>
          </a:xfrm>
          <a:custGeom>
            <a:avLst/>
            <a:gdLst/>
            <a:ahLst/>
            <a:cxnLst/>
            <a:rect l="l" t="t" r="r" b="b"/>
            <a:pathLst>
              <a:path w="1409700" h="21580">
                <a:moveTo>
                  <a:pt x="86360" y="0"/>
                </a:moveTo>
                <a:lnTo>
                  <a:pt x="1323340" y="0"/>
                </a:lnTo>
                <a:lnTo>
                  <a:pt x="1344756" y="2698"/>
                </a:lnTo>
                <a:lnTo>
                  <a:pt x="1353385" y="5395"/>
                </a:lnTo>
                <a:lnTo>
                  <a:pt x="1359840" y="8093"/>
                </a:lnTo>
                <a:lnTo>
                  <a:pt x="1365140" y="10790"/>
                </a:lnTo>
                <a:lnTo>
                  <a:pt x="1369683" y="13488"/>
                </a:lnTo>
                <a:lnTo>
                  <a:pt x="1373674" y="16185"/>
                </a:lnTo>
                <a:lnTo>
                  <a:pt x="1377237" y="18883"/>
                </a:lnTo>
                <a:lnTo>
                  <a:pt x="138045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00050" y="285750"/>
            <a:ext cx="892797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030" b="1" spc="-30" kern="0" dirty="0">
                <a:solidFill>
                  <a:srgbClr val="E8ED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End-to-End ML Pipeline</a:t>
            </a:r>
            <a:endParaRPr lang="en-US" sz="2030" dirty="0"/>
          </a:p>
        </p:txBody>
      </p:sp>
      <p:sp>
        <p:nvSpPr>
          <p:cNvPr id="8" name="Text 4"/>
          <p:cNvSpPr/>
          <p:nvPr/>
        </p:nvSpPr>
        <p:spPr>
          <a:xfrm>
            <a:off x="400050" y="729555"/>
            <a:ext cx="42922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824657" y="2065139"/>
            <a:ext cx="800100" cy="642491"/>
          </a:xfrm>
          <a:prstGeom prst="roundRect">
            <a:avLst>
              <a:gd name="adj" fmla="val 11069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77032" y="2017514"/>
            <a:ext cx="143470" cy="157817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4396" y="2222302"/>
            <a:ext cx="200620" cy="2006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0062" y="2452092"/>
            <a:ext cx="389141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</a:t>
            </a:r>
            <a:endParaRPr lang="en-US" sz="62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9470" y="2320091"/>
            <a:ext cx="226844" cy="132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81026" y="2065139"/>
            <a:ext cx="800100" cy="642491"/>
          </a:xfrm>
          <a:prstGeom prst="roundRect">
            <a:avLst>
              <a:gd name="adj" fmla="val 11069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1733401" y="2017514"/>
            <a:ext cx="143470" cy="157817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80766" y="2173039"/>
            <a:ext cx="200620" cy="2006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973863" y="2402830"/>
            <a:ext cx="414427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pandasDataFrame</a:t>
            </a:r>
            <a:endParaRPr lang="en-US" sz="62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45839" y="2320091"/>
            <a:ext cx="226844" cy="132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737396" y="2065139"/>
            <a:ext cx="800100" cy="642491"/>
          </a:xfrm>
          <a:prstGeom prst="roundRect">
            <a:avLst>
              <a:gd name="adj" fmla="val 11069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2"/>
          <p:cNvSpPr/>
          <p:nvPr/>
        </p:nvSpPr>
        <p:spPr>
          <a:xfrm>
            <a:off x="2689771" y="2017514"/>
            <a:ext cx="143470" cy="157817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37136" y="2173039"/>
            <a:ext cx="200620" cy="2006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2988222" y="2402830"/>
            <a:ext cx="298448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IDColumn</a:t>
            </a:r>
            <a:endParaRPr lang="en-US" sz="62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02209" y="2320091"/>
            <a:ext cx="226844" cy="13258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693765" y="2065139"/>
            <a:ext cx="800100" cy="642491"/>
          </a:xfrm>
          <a:prstGeom prst="roundRect">
            <a:avLst>
              <a:gd name="adj" fmla="val 11069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5"/>
          <p:cNvSpPr/>
          <p:nvPr/>
        </p:nvSpPr>
        <p:spPr>
          <a:xfrm>
            <a:off x="3646140" y="2017514"/>
            <a:ext cx="143470" cy="157817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993505" y="2181820"/>
            <a:ext cx="200620" cy="20062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828764" y="2411611"/>
            <a:ext cx="530102" cy="18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LabelEncoderCat → Numeric</a:t>
            </a:r>
            <a:endParaRPr lang="en-US" sz="62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58578" y="2320091"/>
            <a:ext cx="226844" cy="13258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650135" y="2065139"/>
            <a:ext cx="800100" cy="642491"/>
          </a:xfrm>
          <a:prstGeom prst="roundRect">
            <a:avLst>
              <a:gd name="adj" fmla="val 11069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18"/>
          <p:cNvSpPr/>
          <p:nvPr/>
        </p:nvSpPr>
        <p:spPr>
          <a:xfrm>
            <a:off x="4602510" y="2017514"/>
            <a:ext cx="143470" cy="157817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949875" y="2173039"/>
            <a:ext cx="200620" cy="20062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4825210" y="2402830"/>
            <a:ext cx="449949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Train/TestSplit (80/20)</a:t>
            </a:r>
            <a:endParaRPr lang="en-US" sz="62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414948" y="2320091"/>
            <a:ext cx="226844" cy="13258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606504" y="2065139"/>
            <a:ext cx="800100" cy="642491"/>
          </a:xfrm>
          <a:prstGeom prst="roundRect">
            <a:avLst>
              <a:gd name="adj" fmla="val 11069"/>
            </a:avLst>
          </a:prstGeom>
          <a:solidFill>
            <a:srgbClr val="152238"/>
          </a:solidFill>
          <a:ln w="9525">
            <a:solidFill>
              <a:srgbClr val="38BDF8">
                <a:alpha val="50000"/>
              </a:srgbClr>
            </a:solidFill>
          </a:ln>
          <a:effectLst>
            <a:outerShdw sx="100000" sy="100000" kx="0" ky="0" algn="bl" rotWithShape="0" blurRad="114300" dist="50800" dir="16200000">
              <a:srgbClr val="38bdf8">
                <a:alpha val="1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1"/>
          <p:cNvSpPr/>
          <p:nvPr/>
        </p:nvSpPr>
        <p:spPr>
          <a:xfrm>
            <a:off x="5558879" y="2017514"/>
            <a:ext cx="143470" cy="157817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60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906244" y="2181820"/>
            <a:ext cx="200620" cy="20062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5723742" y="2411611"/>
            <a:ext cx="565624" cy="18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RandomForest100 trees</a:t>
            </a:r>
            <a:endParaRPr lang="en-US" sz="620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371317" y="2320091"/>
            <a:ext cx="226844" cy="132588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6562874" y="2065139"/>
            <a:ext cx="800100" cy="642491"/>
          </a:xfrm>
          <a:prstGeom prst="roundRect">
            <a:avLst>
              <a:gd name="adj" fmla="val 11069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24"/>
          <p:cNvSpPr/>
          <p:nvPr/>
        </p:nvSpPr>
        <p:spPr>
          <a:xfrm>
            <a:off x="6515249" y="2017514"/>
            <a:ext cx="143470" cy="157817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6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862614" y="2222302"/>
            <a:ext cx="200620" cy="20062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6727508" y="2452092"/>
            <a:ext cx="470833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62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327687" y="2320091"/>
            <a:ext cx="226844" cy="132588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7519243" y="2065139"/>
            <a:ext cx="800100" cy="642491"/>
          </a:xfrm>
          <a:prstGeom prst="roundRect">
            <a:avLst>
              <a:gd name="adj" fmla="val 11069"/>
            </a:avLst>
          </a:prstGeom>
          <a:solidFill>
            <a:srgbClr val="152238"/>
          </a:solidFill>
          <a:ln w="9525">
            <a:solidFill>
              <a:srgbClr val="38BDF8">
                <a:alpha val="4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27"/>
          <p:cNvSpPr/>
          <p:nvPr/>
        </p:nvSpPr>
        <p:spPr>
          <a:xfrm>
            <a:off x="7471618" y="2017514"/>
            <a:ext cx="143470" cy="157817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60" dirty="0"/>
          </a:p>
        </p:txBody>
      </p:sp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818983" y="2181820"/>
            <a:ext cx="200620" cy="200620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7642250" y="2411611"/>
            <a:ext cx="554087" cy="18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75"/>
              </a:lnSpc>
              <a:buNone/>
            </a:pPr>
            <a:r>
              <a:rPr lang="en-US" sz="62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EvaluationAcc · CM · Report</a:t>
            </a:r>
            <a:endParaRPr lang="en-US" sz="620" dirty="0"/>
          </a:p>
        </p:txBody>
      </p:sp>
      <p:sp>
        <p:nvSpPr>
          <p:cNvPr id="48" name="Text 29"/>
          <p:cNvSpPr/>
          <p:nvPr/>
        </p:nvSpPr>
        <p:spPr>
          <a:xfrm>
            <a:off x="2113062" y="3050530"/>
            <a:ext cx="1488728" cy="757386"/>
          </a:xfrm>
          <a:prstGeom prst="roundRect">
            <a:avLst>
              <a:gd name="adj" fmla="val 11402"/>
            </a:avLst>
          </a:prstGeom>
          <a:solidFill>
            <a:srgbClr val="152238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9" name="Image 17" descr="preencoded.png">    </p:cNvPr>
          <p:cNvPicPr>
            <a:picLocks noChangeAspect="1"/>
          </p:cNvPicPr>
          <p:nvPr/>
        </p:nvPicPr>
        <p:blipFill>
          <a:blip r:embed="rId33">
            <a:alphaModFix amt="60000"/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351187" y="3353991"/>
            <a:ext cx="150465" cy="150465"/>
          </a:xfrm>
          <a:prstGeom prst="rect">
            <a:avLst/>
          </a:prstGeom>
        </p:spPr>
      </p:pic>
      <p:sp>
        <p:nvSpPr>
          <p:cNvPr id="50" name="Text 30"/>
          <p:cNvSpPr/>
          <p:nvPr/>
        </p:nvSpPr>
        <p:spPr>
          <a:xfrm>
            <a:off x="2560823" y="3203525"/>
            <a:ext cx="829991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30"/>
              </a:lnSpc>
              <a:buNone/>
            </a:pPr>
            <a:r>
              <a:rPr lang="en-US" sz="20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2030" dirty="0"/>
          </a:p>
        </p:txBody>
      </p:sp>
      <p:sp>
        <p:nvSpPr>
          <p:cNvPr id="51" name="Text 31"/>
          <p:cNvSpPr/>
          <p:nvPr/>
        </p:nvSpPr>
        <p:spPr>
          <a:xfrm>
            <a:off x="2549188" y="3504456"/>
            <a:ext cx="85326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790" dirty="0"/>
          </a:p>
        </p:txBody>
      </p:sp>
      <p:sp>
        <p:nvSpPr>
          <p:cNvPr id="52" name="Text 32"/>
          <p:cNvSpPr/>
          <p:nvPr/>
        </p:nvSpPr>
        <p:spPr>
          <a:xfrm>
            <a:off x="3887539" y="3050530"/>
            <a:ext cx="1428750" cy="757386"/>
          </a:xfrm>
          <a:prstGeom prst="roundRect">
            <a:avLst>
              <a:gd name="adj" fmla="val 11402"/>
            </a:avLst>
          </a:prstGeom>
          <a:solidFill>
            <a:srgbClr val="152238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3" name="Image 18" descr="preencoded.png">    </p:cNvPr>
          <p:cNvPicPr>
            <a:picLocks noChangeAspect="1"/>
          </p:cNvPicPr>
          <p:nvPr/>
        </p:nvPicPr>
        <p:blipFill>
          <a:blip r:embed="rId35">
            <a:alphaModFix amt="60000"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182814" y="3353991"/>
            <a:ext cx="150465" cy="150465"/>
          </a:xfrm>
          <a:prstGeom prst="rect">
            <a:avLst/>
          </a:prstGeom>
        </p:spPr>
      </p:pic>
      <p:sp>
        <p:nvSpPr>
          <p:cNvPr id="54" name="Text 33"/>
          <p:cNvSpPr/>
          <p:nvPr/>
        </p:nvSpPr>
        <p:spPr>
          <a:xfrm>
            <a:off x="4398556" y="3203525"/>
            <a:ext cx="64335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30"/>
              </a:lnSpc>
              <a:buNone/>
            </a:pPr>
            <a:r>
              <a:rPr lang="en-US" sz="20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030" dirty="0"/>
          </a:p>
        </p:txBody>
      </p:sp>
      <p:sp>
        <p:nvSpPr>
          <p:cNvPr id="55" name="Text 34"/>
          <p:cNvSpPr/>
          <p:nvPr/>
        </p:nvSpPr>
        <p:spPr>
          <a:xfrm>
            <a:off x="4389537" y="3504456"/>
            <a:ext cx="66139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</a:t>
            </a:r>
            <a:endParaRPr lang="en-US" sz="790" dirty="0"/>
          </a:p>
        </p:txBody>
      </p:sp>
      <p:sp>
        <p:nvSpPr>
          <p:cNvPr id="56" name="Text 35"/>
          <p:cNvSpPr/>
          <p:nvPr/>
        </p:nvSpPr>
        <p:spPr>
          <a:xfrm>
            <a:off x="5602039" y="3050530"/>
            <a:ext cx="1428750" cy="757386"/>
          </a:xfrm>
          <a:prstGeom prst="roundRect">
            <a:avLst>
              <a:gd name="adj" fmla="val 11402"/>
            </a:avLst>
          </a:prstGeom>
          <a:solidFill>
            <a:srgbClr val="152238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7" name="Image 19" descr="preencoded.png">    </p:cNvPr>
          <p:cNvPicPr>
            <a:picLocks noChangeAspect="1"/>
          </p:cNvPicPr>
          <p:nvPr/>
        </p:nvPicPr>
        <p:blipFill>
          <a:blip r:embed="rId37">
            <a:alphaModFix amt="60000"/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000304" y="3353991"/>
            <a:ext cx="150465" cy="150465"/>
          </a:xfrm>
          <a:prstGeom prst="rect">
            <a:avLst/>
          </a:prstGeom>
        </p:spPr>
      </p:pic>
      <p:sp>
        <p:nvSpPr>
          <p:cNvPr id="58" name="Text 36"/>
          <p:cNvSpPr/>
          <p:nvPr/>
        </p:nvSpPr>
        <p:spPr>
          <a:xfrm>
            <a:off x="6223254" y="3203525"/>
            <a:ext cx="42295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30"/>
              </a:lnSpc>
              <a:buNone/>
            </a:pPr>
            <a:r>
              <a:rPr lang="en-US" sz="20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30" dirty="0"/>
          </a:p>
        </p:txBody>
      </p:sp>
      <p:sp>
        <p:nvSpPr>
          <p:cNvPr id="59" name="Text 37"/>
          <p:cNvSpPr/>
          <p:nvPr/>
        </p:nvSpPr>
        <p:spPr>
          <a:xfrm>
            <a:off x="6217325" y="3504456"/>
            <a:ext cx="43481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7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892797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45"/>
              </a:lnSpc>
              <a:spcAft>
                <a:spcPts val="1800"/>
              </a:spcAft>
              <a:buNone/>
            </a:pPr>
            <a:r>
              <a:rPr lang="en-US" sz="2030" spc="-30" kern="0" dirty="0">
                <a:solidFill>
                  <a:srgbClr val="E8EDF4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Results — </a:t>
            </a:r>
            <a:pPr algn="l" indent="0" marL="0">
              <a:lnSpc>
                <a:spcPts val="3045"/>
              </a:lnSpc>
              <a:spcAft>
                <a:spcPts val="1800"/>
              </a:spcAft>
              <a:buNone/>
            </a:pPr>
            <a:r>
              <a:rPr lang="en-US" sz="2030" b="1" spc="-30" kern="0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Model Performance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00050" y="958155"/>
            <a:ext cx="3000970" cy="1399431"/>
          </a:xfrm>
          <a:prstGeom prst="roundRect">
            <a:avLst>
              <a:gd name="adj" fmla="val 8168"/>
            </a:avLst>
          </a:prstGeom>
          <a:solidFill>
            <a:srgbClr val="152238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91008" y="1648271"/>
            <a:ext cx="1510013" cy="709315"/>
          </a:xfrm>
          <a:custGeom>
            <a:avLst/>
            <a:gdLst/>
            <a:ahLst/>
            <a:cxnLst/>
            <a:rect l="l" t="t" r="r" b="b"/>
            <a:pathLst>
              <a:path w="1510013" h="709315">
                <a:moveTo>
                  <a:pt x="3310" y="709315"/>
                </a:moveTo>
                <a:lnTo>
                  <a:pt x="15105" y="632746"/>
                </a:lnTo>
                <a:lnTo>
                  <a:pt x="33850" y="557913"/>
                </a:lnTo>
                <a:lnTo>
                  <a:pt x="59839" y="485277"/>
                </a:lnTo>
                <a:lnTo>
                  <a:pt x="92823" y="415539"/>
                </a:lnTo>
                <a:lnTo>
                  <a:pt x="132483" y="349370"/>
                </a:lnTo>
                <a:lnTo>
                  <a:pt x="178438" y="287406"/>
                </a:lnTo>
                <a:lnTo>
                  <a:pt x="230246" y="230246"/>
                </a:lnTo>
                <a:lnTo>
                  <a:pt x="287406" y="178438"/>
                </a:lnTo>
                <a:lnTo>
                  <a:pt x="349370" y="132483"/>
                </a:lnTo>
                <a:lnTo>
                  <a:pt x="415539" y="92823"/>
                </a:lnTo>
                <a:lnTo>
                  <a:pt x="485277" y="59839"/>
                </a:lnTo>
                <a:lnTo>
                  <a:pt x="557913" y="33850"/>
                </a:lnTo>
                <a:lnTo>
                  <a:pt x="632746" y="15105"/>
                </a:lnTo>
                <a:lnTo>
                  <a:pt x="709056" y="3785"/>
                </a:lnTo>
                <a:lnTo>
                  <a:pt x="786108" y="0"/>
                </a:lnTo>
                <a:lnTo>
                  <a:pt x="863160" y="3785"/>
                </a:lnTo>
                <a:lnTo>
                  <a:pt x="939470" y="15105"/>
                </a:lnTo>
                <a:lnTo>
                  <a:pt x="1014303" y="33850"/>
                </a:lnTo>
                <a:lnTo>
                  <a:pt x="1086938" y="59839"/>
                </a:lnTo>
                <a:lnTo>
                  <a:pt x="1156676" y="92823"/>
                </a:lnTo>
                <a:lnTo>
                  <a:pt x="1222846" y="132483"/>
                </a:lnTo>
                <a:lnTo>
                  <a:pt x="1284809" y="178438"/>
                </a:lnTo>
                <a:lnTo>
                  <a:pt x="1341970" y="230246"/>
                </a:lnTo>
                <a:lnTo>
                  <a:pt x="1393777" y="287406"/>
                </a:lnTo>
                <a:lnTo>
                  <a:pt x="1439733" y="349370"/>
                </a:lnTo>
                <a:lnTo>
                  <a:pt x="1479393" y="415539"/>
                </a:lnTo>
                <a:lnTo>
                  <a:pt x="1510013" y="485277"/>
                </a:lnTo>
                <a:lnTo>
                  <a:pt x="1510013" y="491101"/>
                </a:lnTo>
                <a:lnTo>
                  <a:pt x="1510013" y="595015"/>
                </a:lnTo>
                <a:lnTo>
                  <a:pt x="1507816" y="617314"/>
                </a:lnTo>
                <a:lnTo>
                  <a:pt x="1501312" y="638756"/>
                </a:lnTo>
                <a:lnTo>
                  <a:pt x="1490750" y="658517"/>
                </a:lnTo>
                <a:lnTo>
                  <a:pt x="1476535" y="675837"/>
                </a:lnTo>
                <a:lnTo>
                  <a:pt x="1459214" y="690052"/>
                </a:lnTo>
                <a:lnTo>
                  <a:pt x="1439453" y="700615"/>
                </a:lnTo>
                <a:lnTo>
                  <a:pt x="1418011" y="707119"/>
                </a:lnTo>
                <a:lnTo>
                  <a:pt x="1395713" y="709315"/>
                </a:lnTo>
                <a:close/>
              </a:path>
            </a:pathLst>
          </a:custGeom>
          <a:noFill/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91008" y="1648271"/>
            <a:ext cx="1510013" cy="709315"/>
          </a:xfrm>
          <a:custGeom>
            <a:avLst/>
            <a:gdLst/>
            <a:ahLst/>
            <a:cxnLst/>
            <a:rect l="l" t="t" r="r" b="b"/>
            <a:pathLst>
              <a:path w="1510013" h="709315">
                <a:moveTo>
                  <a:pt x="25190" y="709315"/>
                </a:moveTo>
                <a:lnTo>
                  <a:pt x="40002" y="659313"/>
                </a:lnTo>
                <a:lnTo>
                  <a:pt x="70715" y="573476"/>
                </a:lnTo>
                <a:lnTo>
                  <a:pt x="109693" y="491063"/>
                </a:lnTo>
                <a:lnTo>
                  <a:pt x="156562" y="412868"/>
                </a:lnTo>
                <a:lnTo>
                  <a:pt x="210869" y="339642"/>
                </a:lnTo>
                <a:lnTo>
                  <a:pt x="272093" y="272093"/>
                </a:lnTo>
                <a:lnTo>
                  <a:pt x="339642" y="210869"/>
                </a:lnTo>
                <a:lnTo>
                  <a:pt x="412868" y="156562"/>
                </a:lnTo>
                <a:lnTo>
                  <a:pt x="491063" y="109693"/>
                </a:lnTo>
                <a:lnTo>
                  <a:pt x="573476" y="70715"/>
                </a:lnTo>
                <a:lnTo>
                  <a:pt x="659313" y="40002"/>
                </a:lnTo>
                <a:lnTo>
                  <a:pt x="747747" y="17850"/>
                </a:lnTo>
                <a:lnTo>
                  <a:pt x="837927" y="4473"/>
                </a:lnTo>
                <a:lnTo>
                  <a:pt x="928983" y="0"/>
                </a:lnTo>
                <a:lnTo>
                  <a:pt x="1020039" y="4473"/>
                </a:lnTo>
                <a:lnTo>
                  <a:pt x="1110218" y="17850"/>
                </a:lnTo>
                <a:lnTo>
                  <a:pt x="1198652" y="40002"/>
                </a:lnTo>
                <a:lnTo>
                  <a:pt x="1284489" y="70715"/>
                </a:lnTo>
                <a:lnTo>
                  <a:pt x="1366902" y="109693"/>
                </a:lnTo>
                <a:lnTo>
                  <a:pt x="1445098" y="156562"/>
                </a:lnTo>
                <a:lnTo>
                  <a:pt x="1510013" y="207968"/>
                </a:lnTo>
                <a:lnTo>
                  <a:pt x="1510013" y="595015"/>
                </a:lnTo>
                <a:lnTo>
                  <a:pt x="1507816" y="617314"/>
                </a:lnTo>
                <a:lnTo>
                  <a:pt x="1501312" y="638756"/>
                </a:lnTo>
                <a:lnTo>
                  <a:pt x="1490750" y="658517"/>
                </a:lnTo>
                <a:lnTo>
                  <a:pt x="1476535" y="675837"/>
                </a:lnTo>
                <a:lnTo>
                  <a:pt x="1459214" y="690052"/>
                </a:lnTo>
                <a:lnTo>
                  <a:pt x="1439453" y="700615"/>
                </a:lnTo>
                <a:lnTo>
                  <a:pt x="1418011" y="707119"/>
                </a:lnTo>
                <a:lnTo>
                  <a:pt x="1395713" y="709315"/>
                </a:lnTo>
                <a:close/>
              </a:path>
            </a:pathLst>
          </a:custGeom>
          <a:noFill/>
          <a:ln w="9525">
            <a:solidFill>
              <a:srgbClr val="38BDF8">
                <a:alpha val="7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5678" y="1382911"/>
            <a:ext cx="270971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400" b="1" spc="-110" kern="0" dirty="0">
                <a:gradFill rotWithShape="1">
                  <a:gsLst>
                    <a:gs pos="0">
                      <a:srgbClr val="38BDF8"/>
                    </a:gs>
                    <a:gs pos="50000">
                      <a:srgbClr val="7DD3FC"/>
                    </a:gs>
                    <a:gs pos="100000">
                      <a:srgbClr val="38BDF8"/>
                    </a:gs>
                  </a:gsLst>
                  <a:lin ang="2700000" scaled="1"/>
                </a:gra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100%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00050" y="2558207"/>
            <a:ext cx="3000970" cy="2033588"/>
          </a:xfrm>
          <a:prstGeom prst="roundRect">
            <a:avLst>
              <a:gd name="adj" fmla="val 5621"/>
            </a:avLst>
          </a:prstGeom>
          <a:solidFill>
            <a:srgbClr val="152238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1025" y="2739182"/>
            <a:ext cx="290292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62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METRICS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581025" y="2971502"/>
            <a:ext cx="496044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3025080" y="2971502"/>
            <a:ext cx="21446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581025" y="3165128"/>
            <a:ext cx="2639020" cy="228600"/>
          </a:xfrm>
          <a:prstGeom prst="roundRect">
            <a:avLst>
              <a:gd name="adj" fmla="val 2500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1025" y="3165128"/>
            <a:ext cx="263902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EA5E9"/>
              </a:gs>
              <a:gs pos="50000">
                <a:srgbClr val="38BDF8"/>
              </a:gs>
              <a:gs pos="100000">
                <a:srgbClr val="7DD3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1025" y="3494038"/>
            <a:ext cx="32463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790" dirty="0"/>
          </a:p>
        </p:txBody>
      </p:sp>
      <p:sp>
        <p:nvSpPr>
          <p:cNvPr id="14" name="Text 12"/>
          <p:cNvSpPr/>
          <p:nvPr/>
        </p:nvSpPr>
        <p:spPr>
          <a:xfrm>
            <a:off x="3025080" y="3494038"/>
            <a:ext cx="21446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15" name="Text 13"/>
          <p:cNvSpPr/>
          <p:nvPr/>
        </p:nvSpPr>
        <p:spPr>
          <a:xfrm>
            <a:off x="581025" y="3687663"/>
            <a:ext cx="2639020" cy="228600"/>
          </a:xfrm>
          <a:prstGeom prst="roundRect">
            <a:avLst>
              <a:gd name="adj" fmla="val 2500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1025" y="3687663"/>
            <a:ext cx="263902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EA5E9"/>
              </a:gs>
              <a:gs pos="50000">
                <a:srgbClr val="38BDF8"/>
              </a:gs>
              <a:gs pos="100000">
                <a:srgbClr val="7DD3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1025" y="4016573"/>
            <a:ext cx="47148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790" dirty="0"/>
          </a:p>
        </p:txBody>
      </p:sp>
      <p:sp>
        <p:nvSpPr>
          <p:cNvPr id="18" name="Text 16"/>
          <p:cNvSpPr/>
          <p:nvPr/>
        </p:nvSpPr>
        <p:spPr>
          <a:xfrm>
            <a:off x="3025080" y="4016573"/>
            <a:ext cx="21446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19" name="Text 17"/>
          <p:cNvSpPr/>
          <p:nvPr/>
        </p:nvSpPr>
        <p:spPr>
          <a:xfrm>
            <a:off x="581025" y="4210199"/>
            <a:ext cx="2639020" cy="228600"/>
          </a:xfrm>
          <a:prstGeom prst="roundRect">
            <a:avLst>
              <a:gd name="adj" fmla="val 2500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1025" y="4210199"/>
            <a:ext cx="263902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EA5E9"/>
              </a:gs>
              <a:gs pos="50000">
                <a:srgbClr val="38BDF8"/>
              </a:gs>
              <a:gs pos="100000">
                <a:srgbClr val="7DD3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86770" y="958155"/>
            <a:ext cx="5057180" cy="3633639"/>
          </a:xfrm>
          <a:prstGeom prst="roundRect">
            <a:avLst>
              <a:gd name="adj" fmla="val 3146"/>
            </a:avLst>
          </a:prstGeom>
          <a:solidFill>
            <a:srgbClr val="152238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4423" y="1161017"/>
            <a:ext cx="132588" cy="1325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075509" y="1168301"/>
            <a:ext cx="128480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620" dirty="0"/>
          </a:p>
        </p:txBody>
      </p:sp>
      <p:sp>
        <p:nvSpPr>
          <p:cNvPr id="24" name="Text 21"/>
          <p:cNvSpPr/>
          <p:nvPr/>
        </p:nvSpPr>
        <p:spPr>
          <a:xfrm>
            <a:off x="3896916" y="1414463"/>
            <a:ext cx="1373225" cy="237232"/>
          </a:xfrm>
          <a:prstGeom prst="roundRect">
            <a:avLst>
              <a:gd name="adj" fmla="val 24090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none" lIns="86360" tIns="71120" rIns="86360" bIns="71120" rtlCol="0" anchor="t"/>
          <a:lstStyle/>
          <a:p>
            <a:pPr algn="l" indent="0" marL="0">
              <a:buNone/>
            </a:pPr>
            <a:r>
              <a:rPr lang="en-US" sz="620" b="1" spc="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620" dirty="0"/>
          </a:p>
        </p:txBody>
      </p:sp>
      <p:sp>
        <p:nvSpPr>
          <p:cNvPr id="25" name="Text 22"/>
          <p:cNvSpPr/>
          <p:nvPr/>
        </p:nvSpPr>
        <p:spPr>
          <a:xfrm>
            <a:off x="3896916" y="1642170"/>
            <a:ext cx="1346299" cy="9525"/>
          </a:xfrm>
          <a:custGeom>
            <a:avLst/>
            <a:gdLst/>
            <a:ahLst/>
            <a:cxnLst/>
            <a:rect l="l" t="t" r="r" b="b"/>
            <a:pathLst>
              <a:path w="1346299" h="9525">
                <a:moveTo>
                  <a:pt x="25559" y="0"/>
                </a:moveTo>
                <a:lnTo>
                  <a:pt x="27432" y="1191"/>
                </a:lnTo>
                <a:lnTo>
                  <a:pt x="29482" y="2381"/>
                </a:lnTo>
                <a:lnTo>
                  <a:pt x="31753" y="3572"/>
                </a:lnTo>
                <a:lnTo>
                  <a:pt x="34310" y="4763"/>
                </a:lnTo>
                <a:lnTo>
                  <a:pt x="37263" y="5953"/>
                </a:lnTo>
                <a:lnTo>
                  <a:pt x="40825" y="7144"/>
                </a:lnTo>
                <a:lnTo>
                  <a:pt x="45545" y="8334"/>
                </a:lnTo>
                <a:lnTo>
                  <a:pt x="57150" y="9525"/>
                </a:lnTo>
                <a:lnTo>
                  <a:pt x="1289149" y="9525"/>
                </a:lnTo>
                <a:lnTo>
                  <a:pt x="1300754" y="8334"/>
                </a:lnTo>
                <a:lnTo>
                  <a:pt x="1305474" y="7144"/>
                </a:lnTo>
                <a:lnTo>
                  <a:pt x="1309037" y="5953"/>
                </a:lnTo>
                <a:lnTo>
                  <a:pt x="1311989" y="4763"/>
                </a:lnTo>
                <a:lnTo>
                  <a:pt x="1314546" y="3572"/>
                </a:lnTo>
                <a:lnTo>
                  <a:pt x="1316817" y="2381"/>
                </a:lnTo>
                <a:lnTo>
                  <a:pt x="1318867" y="1191"/>
                </a:lnTo>
                <a:lnTo>
                  <a:pt x="1320740" y="0"/>
                </a:ln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234174" y="1414463"/>
            <a:ext cx="922213" cy="237232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 wrap="none" lIns="86360" tIns="71120" rIns="86360" bIns="71120" rtlCol="0" anchor="t"/>
          <a:lstStyle/>
          <a:p>
            <a:pPr algn="ctr" indent="0" marL="0">
              <a:buNone/>
            </a:pPr>
            <a:r>
              <a:rPr lang="en-US" sz="620" b="1" spc="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620" dirty="0"/>
          </a:p>
        </p:txBody>
      </p:sp>
      <p:sp>
        <p:nvSpPr>
          <p:cNvPr id="27" name="Text 24"/>
          <p:cNvSpPr/>
          <p:nvPr/>
        </p:nvSpPr>
        <p:spPr>
          <a:xfrm>
            <a:off x="5243215" y="1642170"/>
            <a:ext cx="904131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140114" y="1414463"/>
            <a:ext cx="737619" cy="237232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 wrap="none" lIns="86360" tIns="71120" rIns="86360" bIns="71120" rtlCol="0" anchor="t"/>
          <a:lstStyle/>
          <a:p>
            <a:pPr algn="ctr" indent="0" marL="0">
              <a:buNone/>
            </a:pPr>
            <a:r>
              <a:rPr lang="en-US" sz="620" b="1" spc="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620" dirty="0"/>
          </a:p>
        </p:txBody>
      </p:sp>
      <p:sp>
        <p:nvSpPr>
          <p:cNvPr id="29" name="Text 26"/>
          <p:cNvSpPr/>
          <p:nvPr/>
        </p:nvSpPr>
        <p:spPr>
          <a:xfrm>
            <a:off x="6147346" y="1642170"/>
            <a:ext cx="723156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862024" y="1414463"/>
            <a:ext cx="864680" cy="237232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 wrap="none" lIns="86360" tIns="71120" rIns="86360" bIns="71120" rtlCol="0" anchor="t"/>
          <a:lstStyle/>
          <a:p>
            <a:pPr algn="ctr" indent="0" marL="0">
              <a:buNone/>
            </a:pPr>
            <a:r>
              <a:rPr lang="en-US" sz="620" b="1" spc="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620" dirty="0"/>
          </a:p>
        </p:txBody>
      </p:sp>
      <p:sp>
        <p:nvSpPr>
          <p:cNvPr id="31" name="Text 28"/>
          <p:cNvSpPr/>
          <p:nvPr/>
        </p:nvSpPr>
        <p:spPr>
          <a:xfrm>
            <a:off x="6870502" y="1642170"/>
            <a:ext cx="847725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710071" y="1414463"/>
            <a:ext cx="831890" cy="237232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 wrap="none" lIns="86360" tIns="71120" rIns="86360" bIns="71120" rtlCol="0" anchor="t"/>
          <a:lstStyle/>
          <a:p>
            <a:pPr algn="ctr" indent="0" marL="0">
              <a:buNone/>
            </a:pPr>
            <a:r>
              <a:rPr lang="en-US" sz="620" b="1" spc="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620" dirty="0"/>
          </a:p>
        </p:txBody>
      </p:sp>
      <p:sp>
        <p:nvSpPr>
          <p:cNvPr id="33" name="Text 30"/>
          <p:cNvSpPr/>
          <p:nvPr/>
        </p:nvSpPr>
        <p:spPr>
          <a:xfrm>
            <a:off x="7718227" y="1642170"/>
            <a:ext cx="815578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896916" y="1651695"/>
            <a:ext cx="1373225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Flyby</a:t>
            </a:r>
            <a:endParaRPr lang="en-US" sz="790" dirty="0"/>
          </a:p>
        </p:txBody>
      </p:sp>
      <p:sp>
        <p:nvSpPr>
          <p:cNvPr id="35" name="Text 32"/>
          <p:cNvSpPr/>
          <p:nvPr/>
        </p:nvSpPr>
        <p:spPr>
          <a:xfrm>
            <a:off x="3896916" y="1895475"/>
            <a:ext cx="1346299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234174" y="1651695"/>
            <a:ext cx="922213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37" name="Text 34"/>
          <p:cNvSpPr/>
          <p:nvPr/>
        </p:nvSpPr>
        <p:spPr>
          <a:xfrm>
            <a:off x="5243215" y="1895475"/>
            <a:ext cx="904131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140114" y="1651695"/>
            <a:ext cx="737619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39" name="Text 36"/>
          <p:cNvSpPr/>
          <p:nvPr/>
        </p:nvSpPr>
        <p:spPr>
          <a:xfrm>
            <a:off x="6147346" y="1895475"/>
            <a:ext cx="723156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862024" y="1651695"/>
            <a:ext cx="86468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41" name="Text 38"/>
          <p:cNvSpPr/>
          <p:nvPr/>
        </p:nvSpPr>
        <p:spPr>
          <a:xfrm>
            <a:off x="6870502" y="1895475"/>
            <a:ext cx="847725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7710071" y="1651695"/>
            <a:ext cx="83189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90" dirty="0"/>
          </a:p>
        </p:txBody>
      </p:sp>
      <p:sp>
        <p:nvSpPr>
          <p:cNvPr id="43" name="Text 40"/>
          <p:cNvSpPr/>
          <p:nvPr/>
        </p:nvSpPr>
        <p:spPr>
          <a:xfrm>
            <a:off x="7718227" y="1895475"/>
            <a:ext cx="815578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3896916" y="1905000"/>
            <a:ext cx="1373225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Orbiter</a:t>
            </a:r>
            <a:endParaRPr lang="en-US" sz="790" dirty="0"/>
          </a:p>
        </p:txBody>
      </p:sp>
      <p:sp>
        <p:nvSpPr>
          <p:cNvPr id="45" name="Text 42"/>
          <p:cNvSpPr/>
          <p:nvPr/>
        </p:nvSpPr>
        <p:spPr>
          <a:xfrm>
            <a:off x="3896916" y="2148780"/>
            <a:ext cx="1346299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234174" y="1905000"/>
            <a:ext cx="922213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47" name="Text 44"/>
          <p:cNvSpPr/>
          <p:nvPr/>
        </p:nvSpPr>
        <p:spPr>
          <a:xfrm>
            <a:off x="5243215" y="2148780"/>
            <a:ext cx="904131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140114" y="1905000"/>
            <a:ext cx="737619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49" name="Text 46"/>
          <p:cNvSpPr/>
          <p:nvPr/>
        </p:nvSpPr>
        <p:spPr>
          <a:xfrm>
            <a:off x="6147346" y="2148780"/>
            <a:ext cx="723156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6862024" y="1905000"/>
            <a:ext cx="86468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51" name="Text 48"/>
          <p:cNvSpPr/>
          <p:nvPr/>
        </p:nvSpPr>
        <p:spPr>
          <a:xfrm>
            <a:off x="6870502" y="2148780"/>
            <a:ext cx="847725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7710071" y="1905000"/>
            <a:ext cx="83189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90" dirty="0"/>
          </a:p>
        </p:txBody>
      </p:sp>
      <p:sp>
        <p:nvSpPr>
          <p:cNvPr id="53" name="Text 50"/>
          <p:cNvSpPr/>
          <p:nvPr/>
        </p:nvSpPr>
        <p:spPr>
          <a:xfrm>
            <a:off x="7718227" y="2148780"/>
            <a:ext cx="815578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3896916" y="2158305"/>
            <a:ext cx="1373225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Lander</a:t>
            </a:r>
            <a:endParaRPr lang="en-US" sz="790" dirty="0"/>
          </a:p>
        </p:txBody>
      </p:sp>
      <p:sp>
        <p:nvSpPr>
          <p:cNvPr id="55" name="Text 52"/>
          <p:cNvSpPr/>
          <p:nvPr/>
        </p:nvSpPr>
        <p:spPr>
          <a:xfrm>
            <a:off x="3896916" y="2402086"/>
            <a:ext cx="1346299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234174" y="2158305"/>
            <a:ext cx="922213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57" name="Text 54"/>
          <p:cNvSpPr/>
          <p:nvPr/>
        </p:nvSpPr>
        <p:spPr>
          <a:xfrm>
            <a:off x="5243215" y="2402086"/>
            <a:ext cx="904131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6140114" y="2158305"/>
            <a:ext cx="737619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59" name="Text 56"/>
          <p:cNvSpPr/>
          <p:nvPr/>
        </p:nvSpPr>
        <p:spPr>
          <a:xfrm>
            <a:off x="6147346" y="2402086"/>
            <a:ext cx="723156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6862024" y="2158305"/>
            <a:ext cx="86468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61" name="Text 58"/>
          <p:cNvSpPr/>
          <p:nvPr/>
        </p:nvSpPr>
        <p:spPr>
          <a:xfrm>
            <a:off x="6870502" y="2402086"/>
            <a:ext cx="847725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7710071" y="2158305"/>
            <a:ext cx="83189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90" dirty="0"/>
          </a:p>
        </p:txBody>
      </p:sp>
      <p:sp>
        <p:nvSpPr>
          <p:cNvPr id="63" name="Text 60"/>
          <p:cNvSpPr/>
          <p:nvPr/>
        </p:nvSpPr>
        <p:spPr>
          <a:xfrm>
            <a:off x="7718227" y="2402086"/>
            <a:ext cx="815578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896916" y="2411611"/>
            <a:ext cx="1373225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</a:t>
            </a:r>
            <a:endParaRPr lang="en-US" sz="790" dirty="0"/>
          </a:p>
        </p:txBody>
      </p:sp>
      <p:sp>
        <p:nvSpPr>
          <p:cNvPr id="65" name="Text 62"/>
          <p:cNvSpPr/>
          <p:nvPr/>
        </p:nvSpPr>
        <p:spPr>
          <a:xfrm>
            <a:off x="3896916" y="2655391"/>
            <a:ext cx="1346299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5234174" y="2411611"/>
            <a:ext cx="922213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67" name="Text 64"/>
          <p:cNvSpPr/>
          <p:nvPr/>
        </p:nvSpPr>
        <p:spPr>
          <a:xfrm>
            <a:off x="5243215" y="2655391"/>
            <a:ext cx="904131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6140114" y="2411611"/>
            <a:ext cx="737619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69" name="Text 66"/>
          <p:cNvSpPr/>
          <p:nvPr/>
        </p:nvSpPr>
        <p:spPr>
          <a:xfrm>
            <a:off x="6147346" y="2655391"/>
            <a:ext cx="723156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6862024" y="2411611"/>
            <a:ext cx="86468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71" name="Text 68"/>
          <p:cNvSpPr/>
          <p:nvPr/>
        </p:nvSpPr>
        <p:spPr>
          <a:xfrm>
            <a:off x="6870502" y="2655391"/>
            <a:ext cx="847725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7710071" y="2411611"/>
            <a:ext cx="83189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90" dirty="0"/>
          </a:p>
        </p:txBody>
      </p:sp>
      <p:sp>
        <p:nvSpPr>
          <p:cNvPr id="73" name="Text 70"/>
          <p:cNvSpPr/>
          <p:nvPr/>
        </p:nvSpPr>
        <p:spPr>
          <a:xfrm>
            <a:off x="7718227" y="2655391"/>
            <a:ext cx="815578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3896916" y="2664916"/>
            <a:ext cx="1373225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Observatory</a:t>
            </a:r>
            <a:endParaRPr lang="en-US" sz="790" dirty="0"/>
          </a:p>
        </p:txBody>
      </p:sp>
      <p:sp>
        <p:nvSpPr>
          <p:cNvPr id="75" name="Text 72"/>
          <p:cNvSpPr/>
          <p:nvPr/>
        </p:nvSpPr>
        <p:spPr>
          <a:xfrm>
            <a:off x="3896916" y="2908697"/>
            <a:ext cx="1346299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5234174" y="2664916"/>
            <a:ext cx="922213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77" name="Text 74"/>
          <p:cNvSpPr/>
          <p:nvPr/>
        </p:nvSpPr>
        <p:spPr>
          <a:xfrm>
            <a:off x="5243215" y="2908697"/>
            <a:ext cx="904131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6140114" y="2664916"/>
            <a:ext cx="737619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79" name="Text 76"/>
          <p:cNvSpPr/>
          <p:nvPr/>
        </p:nvSpPr>
        <p:spPr>
          <a:xfrm>
            <a:off x="6147346" y="2908697"/>
            <a:ext cx="723156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7"/>
          <p:cNvSpPr/>
          <p:nvPr/>
        </p:nvSpPr>
        <p:spPr>
          <a:xfrm>
            <a:off x="6862024" y="2664916"/>
            <a:ext cx="86468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81" name="Text 78"/>
          <p:cNvSpPr/>
          <p:nvPr/>
        </p:nvSpPr>
        <p:spPr>
          <a:xfrm>
            <a:off x="6870502" y="2908697"/>
            <a:ext cx="847725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9"/>
          <p:cNvSpPr/>
          <p:nvPr/>
        </p:nvSpPr>
        <p:spPr>
          <a:xfrm>
            <a:off x="7710071" y="2664916"/>
            <a:ext cx="83189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algn="ctr" indent="0" marL="0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90" dirty="0"/>
          </a:p>
        </p:txBody>
      </p:sp>
      <p:sp>
        <p:nvSpPr>
          <p:cNvPr id="83" name="Text 80"/>
          <p:cNvSpPr/>
          <p:nvPr/>
        </p:nvSpPr>
        <p:spPr>
          <a:xfrm>
            <a:off x="7718227" y="2908697"/>
            <a:ext cx="815578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1"/>
          <p:cNvSpPr/>
          <p:nvPr/>
        </p:nvSpPr>
        <p:spPr>
          <a:xfrm>
            <a:off x="3896916" y="2918222"/>
            <a:ext cx="1373225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790" dirty="0"/>
          </a:p>
        </p:txBody>
      </p:sp>
      <p:sp>
        <p:nvSpPr>
          <p:cNvPr id="85" name="Text 82"/>
          <p:cNvSpPr/>
          <p:nvPr/>
        </p:nvSpPr>
        <p:spPr>
          <a:xfrm>
            <a:off x="5234174" y="2918222"/>
            <a:ext cx="922213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86" name="Text 83"/>
          <p:cNvSpPr/>
          <p:nvPr/>
        </p:nvSpPr>
        <p:spPr>
          <a:xfrm>
            <a:off x="6140114" y="2918222"/>
            <a:ext cx="737619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87" name="Text 84"/>
          <p:cNvSpPr/>
          <p:nvPr/>
        </p:nvSpPr>
        <p:spPr>
          <a:xfrm>
            <a:off x="6862024" y="2918222"/>
            <a:ext cx="864680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88" name="Text 85"/>
          <p:cNvSpPr/>
          <p:nvPr/>
        </p:nvSpPr>
        <p:spPr>
          <a:xfrm>
            <a:off x="7710071" y="2918222"/>
            <a:ext cx="831890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90" dirty="0"/>
          </a:p>
        </p:txBody>
      </p:sp>
      <p:sp>
        <p:nvSpPr>
          <p:cNvPr id="89" name="Text 86"/>
          <p:cNvSpPr/>
          <p:nvPr/>
        </p:nvSpPr>
        <p:spPr>
          <a:xfrm>
            <a:off x="3896916" y="4085183"/>
            <a:ext cx="4636889" cy="9525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7"/>
          <p:cNvSpPr/>
          <p:nvPr/>
        </p:nvSpPr>
        <p:spPr>
          <a:xfrm>
            <a:off x="3896916" y="4195018"/>
            <a:ext cx="4636889" cy="243780"/>
          </a:xfrm>
          <a:prstGeom prst="rect">
            <a:avLst/>
          </a:prstGeom>
          <a:solidFill>
            <a:srgbClr val="38BDF8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8"/>
          <p:cNvSpPr/>
          <p:nvPr/>
        </p:nvSpPr>
        <p:spPr>
          <a:xfrm>
            <a:off x="3896916" y="4195018"/>
            <a:ext cx="1704311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l" indent="0" marL="0">
              <a:lnSpc>
                <a:spcPts val="730"/>
              </a:lnSpc>
              <a:buNone/>
            </a:pPr>
            <a:r>
              <a:rPr lang="en-US" sz="73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</a:t>
            </a:r>
            <a:endParaRPr lang="en-US" sz="730" dirty="0"/>
          </a:p>
        </p:txBody>
      </p:sp>
      <p:sp>
        <p:nvSpPr>
          <p:cNvPr id="92" name="Text 89"/>
          <p:cNvSpPr/>
          <p:nvPr/>
        </p:nvSpPr>
        <p:spPr>
          <a:xfrm>
            <a:off x="5559948" y="4195018"/>
            <a:ext cx="801832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790"/>
              </a:lnSpc>
              <a:buNone/>
            </a:pPr>
            <a:r>
              <a:rPr lang="en-US" sz="79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93" name="Text 90"/>
          <p:cNvSpPr/>
          <p:nvPr/>
        </p:nvSpPr>
        <p:spPr>
          <a:xfrm>
            <a:off x="6346058" y="4195018"/>
            <a:ext cx="801832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790"/>
              </a:lnSpc>
              <a:buNone/>
            </a:pPr>
            <a:r>
              <a:rPr lang="en-US" sz="79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94" name="Text 91"/>
          <p:cNvSpPr/>
          <p:nvPr/>
        </p:nvSpPr>
        <p:spPr>
          <a:xfrm>
            <a:off x="7132168" y="4195018"/>
            <a:ext cx="801832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790"/>
              </a:lnSpc>
              <a:buNone/>
            </a:pPr>
            <a:r>
              <a:rPr lang="en-US" sz="79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95" name="Text 92"/>
          <p:cNvSpPr/>
          <p:nvPr/>
        </p:nvSpPr>
        <p:spPr>
          <a:xfrm>
            <a:off x="7920063" y="4195018"/>
            <a:ext cx="619819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algn="ctr" indent="0" marL="0">
              <a:lnSpc>
                <a:spcPts val="790"/>
              </a:lnSpc>
              <a:buNone/>
            </a:pPr>
            <a:r>
              <a:rPr lang="en-US" sz="79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790" dirty="0"/>
          </a:p>
        </p:txBody>
      </p:sp>
      <p:sp>
        <p:nvSpPr>
          <p:cNvPr id="96" name="Text 93"/>
          <p:cNvSpPr/>
          <p:nvPr/>
        </p:nvSpPr>
        <p:spPr>
          <a:xfrm>
            <a:off x="2686050" y="4781848"/>
            <a:ext cx="57150" cy="57150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57150" dist="50800" dir="16200000">
              <a:srgbClr val="38bdf8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4"/>
          <p:cNvSpPr/>
          <p:nvPr/>
        </p:nvSpPr>
        <p:spPr>
          <a:xfrm>
            <a:off x="2800350" y="4735264"/>
            <a:ext cx="402319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Accuracy: 1.00 — 40 test samples, 6 mission types, zero misclassifications</a:t>
            </a:r>
            <a:endParaRPr lang="en-US" sz="790" dirty="0"/>
          </a:p>
        </p:txBody>
      </p:sp>
      <p:sp>
        <p:nvSpPr>
          <p:cNvPr id="98" name="Text 95"/>
          <p:cNvSpPr/>
          <p:nvPr/>
        </p:nvSpPr>
        <p:spPr>
          <a:xfrm>
            <a:off x="481161" y="1196280"/>
            <a:ext cx="283874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680" b="1" spc="82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680" dirty="0"/>
          </a:p>
        </p:txBody>
      </p:sp>
      <p:sp>
        <p:nvSpPr>
          <p:cNvPr id="99" name="Text 96"/>
          <p:cNvSpPr/>
          <p:nvPr/>
        </p:nvSpPr>
        <p:spPr>
          <a:xfrm>
            <a:off x="1453604" y="2139702"/>
            <a:ext cx="893713" cy="227558"/>
          </a:xfrm>
          <a:prstGeom prst="roundRect">
            <a:avLst>
              <a:gd name="adj" fmla="val 63065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Score</a:t>
            </a:r>
            <a:endParaRPr lang="en-US" sz="680" dirty="0"/>
          </a:p>
        </p:txBody>
      </p:sp>
      <p:pic>
        <p:nvPicPr>
          <p:cNvPr id="10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4725" y="2176769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14920"/>
            <a:ext cx="1327532" cy="206871"/>
          </a:xfrm>
          <a:prstGeom prst="roundRect">
            <a:avLst>
              <a:gd name="adj" fmla="val 2087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204698" tIns="29210" rIns="86360" bIns="29210" rtlCol="0" anchor="ctr"/>
          <a:lstStyle/>
          <a:p>
            <a:pPr algn="l" indent="0" marL="0">
              <a:buNone/>
            </a:pPr>
            <a:r>
              <a:rPr lang="en-US" sz="680" b="1" spc="54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68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7180" y="351987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050" y="578941"/>
            <a:ext cx="5543038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0"/>
              </a:lnSpc>
              <a:spcBef>
                <a:spcPts val="450"/>
              </a:spcBef>
              <a:buNone/>
            </a:pPr>
            <a:r>
              <a:rPr lang="en-US" sz="2140" spc="-43" kern="0" dirty="0">
                <a:solidFill>
                  <a:srgbClr val="E8EDF4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Confusion Matrix — </a:t>
            </a:r>
            <a:pPr algn="l" indent="0" marL="0">
              <a:lnSpc>
                <a:spcPts val="3210"/>
              </a:lnSpc>
              <a:spcBef>
                <a:spcPts val="450"/>
              </a:spcBef>
              <a:buNone/>
            </a:pPr>
            <a:r>
              <a:rPr lang="en-US" sz="2140" b="1" spc="-43" kern="0" dirty="0">
                <a:solidFill>
                  <a:srgbClr val="38BDF8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Perfect Classification</a:t>
            </a:r>
            <a:endParaRPr lang="en-US" sz="2140" dirty="0"/>
          </a:p>
        </p:txBody>
      </p:sp>
      <p:sp>
        <p:nvSpPr>
          <p:cNvPr id="5" name="Text 2"/>
          <p:cNvSpPr/>
          <p:nvPr/>
        </p:nvSpPr>
        <p:spPr>
          <a:xfrm rot="5400000">
            <a:off x="251445" y="3687887"/>
            <a:ext cx="47983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73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730" dirty="0"/>
          </a:p>
        </p:txBody>
      </p:sp>
      <p:sp>
        <p:nvSpPr>
          <p:cNvPr id="6" name="Text 3"/>
          <p:cNvSpPr/>
          <p:nvPr/>
        </p:nvSpPr>
        <p:spPr>
          <a:xfrm>
            <a:off x="475030" y="2301627"/>
            <a:ext cx="36153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730" b="1" spc="73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730" dirty="0"/>
          </a:p>
        </p:txBody>
      </p:sp>
      <p:sp>
        <p:nvSpPr>
          <p:cNvPr id="7" name="Text 4"/>
          <p:cNvSpPr/>
          <p:nvPr/>
        </p:nvSpPr>
        <p:spPr>
          <a:xfrm>
            <a:off x="1148060" y="2497782"/>
            <a:ext cx="2571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14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Flyby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1600944" y="2497782"/>
            <a:ext cx="32938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14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Orbiter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2087612" y="2497782"/>
            <a:ext cx="32758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14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Lander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2595860" y="2497782"/>
            <a:ext cx="27830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14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3059162" y="2503438"/>
            <a:ext cx="32774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2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Observ.</a:t>
            </a:r>
            <a:endParaRPr lang="en-US" sz="620" dirty="0"/>
          </a:p>
        </p:txBody>
      </p:sp>
      <p:sp>
        <p:nvSpPr>
          <p:cNvPr id="12" name="Text 9"/>
          <p:cNvSpPr/>
          <p:nvPr/>
        </p:nvSpPr>
        <p:spPr>
          <a:xfrm>
            <a:off x="3543598" y="2497782"/>
            <a:ext cx="33086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14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706487" y="2788741"/>
            <a:ext cx="2571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14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Flyby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1032867" y="264884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43510" dist="50800" dir="16200000">
              <a:srgbClr val="38bdf8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10" dirty="0"/>
          </a:p>
        </p:txBody>
      </p:sp>
      <p:sp>
        <p:nvSpPr>
          <p:cNvPr id="15" name="Text 12"/>
          <p:cNvSpPr/>
          <p:nvPr/>
        </p:nvSpPr>
        <p:spPr>
          <a:xfrm>
            <a:off x="1518642" y="264884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004417" y="264884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2490192" y="2648843"/>
            <a:ext cx="464344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2976116" y="264884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461891" y="264884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640854" y="3219599"/>
            <a:ext cx="32938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14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Orbiter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1032867" y="307970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1518642" y="307970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43510" dist="50800" dir="16200000">
              <a:srgbClr val="38bdf8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10" dirty="0"/>
          </a:p>
        </p:txBody>
      </p:sp>
      <p:sp>
        <p:nvSpPr>
          <p:cNvPr id="23" name="Text 20"/>
          <p:cNvSpPr/>
          <p:nvPr/>
        </p:nvSpPr>
        <p:spPr>
          <a:xfrm>
            <a:off x="2004417" y="307970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2490192" y="3079700"/>
            <a:ext cx="464344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2976116" y="307970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3461891" y="307970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642491" y="3650605"/>
            <a:ext cx="32758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14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Lander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1032867" y="351070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1518642" y="351070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2004417" y="351070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43510" dist="50800" dir="16200000">
              <a:srgbClr val="38bdf8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10" dirty="0"/>
          </a:p>
        </p:txBody>
      </p:sp>
      <p:sp>
        <p:nvSpPr>
          <p:cNvPr id="31" name="Text 28"/>
          <p:cNvSpPr/>
          <p:nvPr/>
        </p:nvSpPr>
        <p:spPr>
          <a:xfrm>
            <a:off x="2490192" y="3510707"/>
            <a:ext cx="464344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32" name="Text 29"/>
          <p:cNvSpPr/>
          <p:nvPr/>
        </p:nvSpPr>
        <p:spPr>
          <a:xfrm>
            <a:off x="2976116" y="351070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3461891" y="351070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687288" y="4081611"/>
            <a:ext cx="27830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14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1032867" y="394171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36" name="Text 33"/>
          <p:cNvSpPr/>
          <p:nvPr/>
        </p:nvSpPr>
        <p:spPr>
          <a:xfrm>
            <a:off x="1518642" y="394171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2004417" y="394171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38" name="Text 35"/>
          <p:cNvSpPr/>
          <p:nvPr/>
        </p:nvSpPr>
        <p:spPr>
          <a:xfrm>
            <a:off x="2490192" y="3941713"/>
            <a:ext cx="464344" cy="450205"/>
          </a:xfrm>
          <a:prstGeom prst="roundRect">
            <a:avLst>
              <a:gd name="adj" fmla="val 9591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43510" dist="50800" dir="16200000">
              <a:srgbClr val="38bdf8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10" dirty="0"/>
          </a:p>
        </p:txBody>
      </p:sp>
      <p:sp>
        <p:nvSpPr>
          <p:cNvPr id="39" name="Text 36"/>
          <p:cNvSpPr/>
          <p:nvPr/>
        </p:nvSpPr>
        <p:spPr>
          <a:xfrm>
            <a:off x="2976116" y="394171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40" name="Text 37"/>
          <p:cNvSpPr/>
          <p:nvPr/>
        </p:nvSpPr>
        <p:spPr>
          <a:xfrm>
            <a:off x="3461891" y="394171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642342" y="4518273"/>
            <a:ext cx="32774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2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Observ.</a:t>
            </a:r>
            <a:endParaRPr lang="en-US" sz="620" dirty="0"/>
          </a:p>
        </p:txBody>
      </p:sp>
      <p:sp>
        <p:nvSpPr>
          <p:cNvPr id="42" name="Text 39"/>
          <p:cNvSpPr/>
          <p:nvPr/>
        </p:nvSpPr>
        <p:spPr>
          <a:xfrm>
            <a:off x="1032867" y="437257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1518642" y="437257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2004417" y="437257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2490192" y="4372570"/>
            <a:ext cx="464344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46" name="Text 43"/>
          <p:cNvSpPr/>
          <p:nvPr/>
        </p:nvSpPr>
        <p:spPr>
          <a:xfrm>
            <a:off x="2976116" y="437257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43510" dist="50800" dir="16200000">
              <a:srgbClr val="38bdf8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10" dirty="0"/>
          </a:p>
        </p:txBody>
      </p:sp>
      <p:sp>
        <p:nvSpPr>
          <p:cNvPr id="47" name="Text 44"/>
          <p:cNvSpPr/>
          <p:nvPr/>
        </p:nvSpPr>
        <p:spPr>
          <a:xfrm>
            <a:off x="3461891" y="437257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48" name="Text 45"/>
          <p:cNvSpPr/>
          <p:nvPr/>
        </p:nvSpPr>
        <p:spPr>
          <a:xfrm>
            <a:off x="639514" y="4943475"/>
            <a:ext cx="33086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14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>
            <a:off x="1032867" y="480357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50" name="Text 47"/>
          <p:cNvSpPr/>
          <p:nvPr/>
        </p:nvSpPr>
        <p:spPr>
          <a:xfrm>
            <a:off x="1518642" y="480357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51" name="Text 48"/>
          <p:cNvSpPr/>
          <p:nvPr/>
        </p:nvSpPr>
        <p:spPr>
          <a:xfrm>
            <a:off x="2004417" y="480357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52" name="Text 49"/>
          <p:cNvSpPr/>
          <p:nvPr/>
        </p:nvSpPr>
        <p:spPr>
          <a:xfrm>
            <a:off x="2490192" y="4803577"/>
            <a:ext cx="464344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53" name="Text 50"/>
          <p:cNvSpPr/>
          <p:nvPr/>
        </p:nvSpPr>
        <p:spPr>
          <a:xfrm>
            <a:off x="2976116" y="480357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54" name="Text 51"/>
          <p:cNvSpPr/>
          <p:nvPr/>
        </p:nvSpPr>
        <p:spPr>
          <a:xfrm>
            <a:off x="3461891" y="480357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43510" dist="50800" dir="16200000">
              <a:srgbClr val="38bdf8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10" dirty="0"/>
          </a:p>
        </p:txBody>
      </p:sp>
      <p:sp>
        <p:nvSpPr>
          <p:cNvPr id="55" name="Text 52"/>
          <p:cNvSpPr/>
          <p:nvPr/>
        </p:nvSpPr>
        <p:spPr>
          <a:xfrm>
            <a:off x="4211836" y="1215182"/>
            <a:ext cx="143470" cy="2715220"/>
          </a:xfrm>
          <a:prstGeom prst="roundRect">
            <a:avLst>
              <a:gd name="adj" fmla="val 49571"/>
            </a:avLst>
          </a:prstGeom>
          <a:gradFill rotWithShape="1">
            <a:gsLst>
              <a:gs pos="0">
                <a:srgbClr val="0B1628"/>
              </a:gs>
              <a:gs pos="15000">
                <a:srgbClr val="0D2040"/>
              </a:gs>
              <a:gs pos="35000">
                <a:srgbClr val="133060"/>
              </a:gs>
              <a:gs pos="55000">
                <a:srgbClr val="1A5090"/>
              </a:gs>
              <a:gs pos="75000">
                <a:srgbClr val="2580C0"/>
              </a:gs>
              <a:gs pos="100000">
                <a:srgbClr val="38BDF8"/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4426297" y="1215182"/>
            <a:ext cx="49033" cy="5430441"/>
          </a:xfrm>
          <a:prstGeom prst="rect">
            <a:avLst/>
          </a:prstGeom>
          <a:noFill/>
          <a:ln/>
        </p:spPr>
        <p:txBody>
          <a:bodyPr wrap="square" lIns="0" tIns="13970" rIns="0" bIns="1397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
</a:t>
            </a:r>
            <a:pPr algn="l" indent="0" marL="0">
              <a:lnSpc>
                <a:spcPts val="180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
</a:t>
            </a:r>
            <a:pPr algn="l" indent="0" marL="0">
              <a:lnSpc>
                <a:spcPts val="180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
</a:t>
            </a:r>
            <a:pPr algn="l" indent="0" marL="0">
              <a:lnSpc>
                <a:spcPts val="180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
</a:t>
            </a:r>
            <a:pPr algn="l" indent="0" marL="0">
              <a:lnSpc>
                <a:spcPts val="1800"/>
              </a:lnSpc>
              <a:buNone/>
            </a:pPr>
            <a:r>
              <a:rPr lang="en-US" sz="680" dirty="0">
                <a:solidFill>
                  <a:srgbClr val="8B9BB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4631680" y="1215182"/>
            <a:ext cx="97080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62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SCALE</a:t>
            </a:r>
            <a:endParaRPr lang="en-US" sz="620" dirty="0"/>
          </a:p>
        </p:txBody>
      </p:sp>
      <p:sp>
        <p:nvSpPr>
          <p:cNvPr id="58" name="Text 55"/>
          <p:cNvSpPr/>
          <p:nvPr/>
        </p:nvSpPr>
        <p:spPr>
          <a:xfrm>
            <a:off x="4631680" y="1362373"/>
            <a:ext cx="900202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= 0 errors</a:t>
            </a:r>
            <a:br/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= correct count</a:t>
            </a:r>
            <a:endParaRPr lang="en-US" sz="730" dirty="0"/>
          </a:p>
        </p:txBody>
      </p:sp>
      <p:sp>
        <p:nvSpPr>
          <p:cNvPr id="59" name="Text 56"/>
          <p:cNvSpPr/>
          <p:nvPr/>
        </p:nvSpPr>
        <p:spPr>
          <a:xfrm>
            <a:off x="4211836" y="4101852"/>
            <a:ext cx="4532114" cy="1041648"/>
          </a:xfrm>
          <a:prstGeom prst="roundRect">
            <a:avLst>
              <a:gd name="adj" fmla="val 8291"/>
            </a:avLst>
          </a:prstGeom>
          <a:solidFill>
            <a:srgbClr val="152238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4392811" y="4254847"/>
            <a:ext cx="458718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62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VALUES (CORRECT)</a:t>
            </a:r>
            <a:endParaRPr lang="en-US" sz="620" dirty="0"/>
          </a:p>
        </p:txBody>
      </p:sp>
      <p:sp>
        <p:nvSpPr>
          <p:cNvPr id="61" name="Text 58"/>
          <p:cNvSpPr/>
          <p:nvPr/>
        </p:nvSpPr>
        <p:spPr>
          <a:xfrm>
            <a:off x="4345815" y="4473178"/>
            <a:ext cx="1436718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60" dirty="0"/>
          </a:p>
        </p:txBody>
      </p:sp>
      <p:sp>
        <p:nvSpPr>
          <p:cNvPr id="62" name="Text 59"/>
          <p:cNvSpPr/>
          <p:nvPr/>
        </p:nvSpPr>
        <p:spPr>
          <a:xfrm>
            <a:off x="4325675" y="4751338"/>
            <a:ext cx="14770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Flyby</a:t>
            </a:r>
            <a:endParaRPr lang="en-US" sz="620" dirty="0"/>
          </a:p>
        </p:txBody>
      </p:sp>
      <p:sp>
        <p:nvSpPr>
          <p:cNvPr id="63" name="Text 60"/>
          <p:cNvSpPr/>
          <p:nvPr/>
        </p:nvSpPr>
        <p:spPr>
          <a:xfrm>
            <a:off x="5759534" y="4473178"/>
            <a:ext cx="1436718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60" dirty="0"/>
          </a:p>
        </p:txBody>
      </p:sp>
      <p:sp>
        <p:nvSpPr>
          <p:cNvPr id="64" name="Text 61"/>
          <p:cNvSpPr/>
          <p:nvPr/>
        </p:nvSpPr>
        <p:spPr>
          <a:xfrm>
            <a:off x="5739393" y="4751338"/>
            <a:ext cx="14770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Orbiter</a:t>
            </a:r>
            <a:endParaRPr lang="en-US" sz="620" dirty="0"/>
          </a:p>
        </p:txBody>
      </p:sp>
      <p:sp>
        <p:nvSpPr>
          <p:cNvPr id="65" name="Text 62"/>
          <p:cNvSpPr/>
          <p:nvPr/>
        </p:nvSpPr>
        <p:spPr>
          <a:xfrm>
            <a:off x="7173252" y="4473178"/>
            <a:ext cx="1436718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60" dirty="0"/>
          </a:p>
        </p:txBody>
      </p:sp>
      <p:sp>
        <p:nvSpPr>
          <p:cNvPr id="66" name="Text 63"/>
          <p:cNvSpPr/>
          <p:nvPr/>
        </p:nvSpPr>
        <p:spPr>
          <a:xfrm>
            <a:off x="7153111" y="4751338"/>
            <a:ext cx="14770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Lander</a:t>
            </a:r>
            <a:endParaRPr lang="en-US" sz="620" dirty="0"/>
          </a:p>
        </p:txBody>
      </p:sp>
      <p:sp>
        <p:nvSpPr>
          <p:cNvPr id="67" name="Text 64"/>
          <p:cNvSpPr/>
          <p:nvPr/>
        </p:nvSpPr>
        <p:spPr>
          <a:xfrm>
            <a:off x="4345815" y="4940350"/>
            <a:ext cx="1436718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60" dirty="0"/>
          </a:p>
        </p:txBody>
      </p:sp>
      <p:sp>
        <p:nvSpPr>
          <p:cNvPr id="68" name="Text 65"/>
          <p:cNvSpPr/>
          <p:nvPr/>
        </p:nvSpPr>
        <p:spPr>
          <a:xfrm>
            <a:off x="4325675" y="5218509"/>
            <a:ext cx="14770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</a:t>
            </a:r>
            <a:endParaRPr lang="en-US" sz="620" dirty="0"/>
          </a:p>
        </p:txBody>
      </p:sp>
      <p:sp>
        <p:nvSpPr>
          <p:cNvPr id="69" name="Text 66"/>
          <p:cNvSpPr/>
          <p:nvPr/>
        </p:nvSpPr>
        <p:spPr>
          <a:xfrm>
            <a:off x="5759534" y="4940350"/>
            <a:ext cx="1436718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60" dirty="0"/>
          </a:p>
        </p:txBody>
      </p:sp>
      <p:sp>
        <p:nvSpPr>
          <p:cNvPr id="70" name="Text 67"/>
          <p:cNvSpPr/>
          <p:nvPr/>
        </p:nvSpPr>
        <p:spPr>
          <a:xfrm>
            <a:off x="5739393" y="5218509"/>
            <a:ext cx="14770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Observ.</a:t>
            </a:r>
            <a:endParaRPr lang="en-US" sz="620" dirty="0"/>
          </a:p>
        </p:txBody>
      </p:sp>
      <p:sp>
        <p:nvSpPr>
          <p:cNvPr id="71" name="Text 68"/>
          <p:cNvSpPr/>
          <p:nvPr/>
        </p:nvSpPr>
        <p:spPr>
          <a:xfrm>
            <a:off x="7173252" y="4940350"/>
            <a:ext cx="1436718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60" dirty="0"/>
          </a:p>
        </p:txBody>
      </p:sp>
      <p:sp>
        <p:nvSpPr>
          <p:cNvPr id="72" name="Text 69"/>
          <p:cNvSpPr/>
          <p:nvPr/>
        </p:nvSpPr>
        <p:spPr>
          <a:xfrm>
            <a:off x="7153111" y="5218509"/>
            <a:ext cx="14770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</a:t>
            </a:r>
            <a:endParaRPr lang="en-US" sz="620" dirty="0"/>
          </a:p>
        </p:txBody>
      </p:sp>
      <p:sp>
        <p:nvSpPr>
          <p:cNvPr id="73" name="Text 70"/>
          <p:cNvSpPr/>
          <p:nvPr/>
        </p:nvSpPr>
        <p:spPr>
          <a:xfrm>
            <a:off x="4211836" y="5660975"/>
            <a:ext cx="2222897" cy="657780"/>
          </a:xfrm>
          <a:prstGeom prst="roundRect">
            <a:avLst>
              <a:gd name="adj" fmla="val 10812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lIns="114300" tIns="100330" rIns="114300" bIns="100330" rtlCol="0" anchor="t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pPr algn="ctr" indent="0" marL="0">
              <a:buNone/>
            </a:pPr>
            <a:endParaRPr lang="en-US" sz="1580" dirty="0"/>
          </a:p>
          <a:p>
            <a:pPr algn="ctr" indent="0" marL="0">
              <a:buNone/>
            </a:pPr>
            <a:r>
              <a:rPr lang="en-US" sz="620" spc="31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580" dirty="0"/>
          </a:p>
        </p:txBody>
      </p:sp>
      <p:sp>
        <p:nvSpPr>
          <p:cNvPr id="74" name="Text 71"/>
          <p:cNvSpPr/>
          <p:nvPr/>
        </p:nvSpPr>
        <p:spPr>
          <a:xfrm>
            <a:off x="6521053" y="5660975"/>
            <a:ext cx="2222897" cy="657780"/>
          </a:xfrm>
          <a:prstGeom prst="roundRect">
            <a:avLst>
              <a:gd name="adj" fmla="val 10812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lIns="114300" tIns="100330" rIns="114300" bIns="100330" rtlCol="0" anchor="t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ctr" indent="0" marL="0">
              <a:buNone/>
            </a:pPr>
            <a:endParaRPr lang="en-US" sz="1580" dirty="0"/>
          </a:p>
          <a:p>
            <a:pPr algn="ctr" indent="0" marL="0">
              <a:buNone/>
            </a:pPr>
            <a:r>
              <a:rPr lang="en-US" sz="620" spc="31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580" dirty="0"/>
          </a:p>
        </p:txBody>
      </p:sp>
      <p:sp>
        <p:nvSpPr>
          <p:cNvPr id="75" name="Text 72"/>
          <p:cNvSpPr/>
          <p:nvPr/>
        </p:nvSpPr>
        <p:spPr>
          <a:xfrm>
            <a:off x="741164" y="6566892"/>
            <a:ext cx="461304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predictions fall on the diagonal — zero misclassifications across all 6 mission types.</a:t>
            </a:r>
            <a:endParaRPr lang="en-US" sz="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60921"/>
            <a:ext cx="17145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42900"/>
            <a:ext cx="3852482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0"/>
              </a:lnSpc>
              <a:buNone/>
            </a:pPr>
            <a:r>
              <a:rPr lang="en-US" sz="2140" b="1" spc="-30" kern="0" dirty="0">
                <a:solidFill>
                  <a:srgbClr val="E8EDF4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Feature Importance Analysis</a:t>
            </a:r>
            <a:endParaRPr lang="en-US" sz="2140" dirty="0"/>
          </a:p>
        </p:txBody>
      </p:sp>
      <p:sp>
        <p:nvSpPr>
          <p:cNvPr id="4" name="Text 1"/>
          <p:cNvSpPr/>
          <p:nvPr/>
        </p:nvSpPr>
        <p:spPr>
          <a:xfrm>
            <a:off x="457200" y="1065461"/>
            <a:ext cx="606581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spcAft>
                <a:spcPts val="230"/>
              </a:spcAft>
              <a:buNone/>
            </a:pPr>
            <a:r>
              <a:rPr lang="en-US" sz="790" b="1" spc="79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FEATURE IMPORTANCE SCORES</a:t>
            </a:r>
            <a:endParaRPr lang="en-US" sz="790" dirty="0"/>
          </a:p>
        </p:txBody>
      </p:sp>
      <p:sp>
        <p:nvSpPr>
          <p:cNvPr id="5" name="Text 2"/>
          <p:cNvSpPr/>
          <p:nvPr/>
        </p:nvSpPr>
        <p:spPr>
          <a:xfrm>
            <a:off x="457200" y="1438126"/>
            <a:ext cx="200620" cy="220682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6" name="Text 3"/>
          <p:cNvSpPr/>
          <p:nvPr/>
        </p:nvSpPr>
        <p:spPr>
          <a:xfrm>
            <a:off x="664934" y="1452711"/>
            <a:ext cx="11790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Duration_Days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958280" y="1402556"/>
            <a:ext cx="4013299" cy="298936"/>
          </a:xfrm>
          <a:prstGeom prst="roundRect">
            <a:avLst>
              <a:gd name="adj" fmla="val 1911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457200" y="1867346"/>
            <a:ext cx="200620" cy="220682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664934" y="1881932"/>
            <a:ext cx="11790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Budget_Million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958280" y="1831777"/>
            <a:ext cx="4013299" cy="298936"/>
          </a:xfrm>
          <a:prstGeom prst="roundRect">
            <a:avLst>
              <a:gd name="adj" fmla="val 1911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457200" y="2296567"/>
            <a:ext cx="200620" cy="220682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12" name="Text 9"/>
          <p:cNvSpPr/>
          <p:nvPr/>
        </p:nvSpPr>
        <p:spPr>
          <a:xfrm>
            <a:off x="664934" y="2311152"/>
            <a:ext cx="11790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Success_Rate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958280" y="2260997"/>
            <a:ext cx="4013299" cy="298936"/>
          </a:xfrm>
          <a:prstGeom prst="roundRect">
            <a:avLst>
              <a:gd name="adj" fmla="val 1911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457200" y="2725787"/>
            <a:ext cx="200620" cy="220682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664934" y="2740372"/>
            <a:ext cx="11790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Crew_Size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958280" y="2690217"/>
            <a:ext cx="4013299" cy="298936"/>
          </a:xfrm>
          <a:prstGeom prst="roundRect">
            <a:avLst>
              <a:gd name="adj" fmla="val 1911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457200" y="3155007"/>
            <a:ext cx="200620" cy="220682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30" dirty="0"/>
          </a:p>
        </p:txBody>
      </p:sp>
      <p:sp>
        <p:nvSpPr>
          <p:cNvPr id="18" name="Text 15"/>
          <p:cNvSpPr/>
          <p:nvPr/>
        </p:nvSpPr>
        <p:spPr>
          <a:xfrm>
            <a:off x="664934" y="3169593"/>
            <a:ext cx="11790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958280" y="3119438"/>
            <a:ext cx="4013299" cy="298936"/>
          </a:xfrm>
          <a:prstGeom prst="roundRect">
            <a:avLst>
              <a:gd name="adj" fmla="val 1911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1857970" y="3577828"/>
            <a:ext cx="18450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2844403" y="3577828"/>
            <a:ext cx="18450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3830985" y="3577828"/>
            <a:ext cx="18450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4817418" y="3577828"/>
            <a:ext cx="18450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5803850" y="3577828"/>
            <a:ext cx="18450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6257330" y="1266081"/>
            <a:ext cx="2429470" cy="1312069"/>
          </a:xfrm>
          <a:prstGeom prst="roundRect">
            <a:avLst>
              <a:gd name="adj" fmla="val 6582"/>
            </a:avLst>
          </a:prstGeom>
          <a:gradFill rotWithShape="1">
            <a:gsLst>
              <a:gs pos="0">
                <a:srgbClr val="38BDF8">
                  <a:alpha val="8000"/>
                </a:srgbClr>
              </a:gs>
              <a:gs pos="100000">
                <a:srgbClr val="38BDF8">
                  <a:alpha val="3000"/>
                </a:srgbClr>
              </a:gs>
            </a:gsLst>
            <a:lin ang="2700000" scaled="1"/>
          </a:gra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6092" y="1406956"/>
            <a:ext cx="132588" cy="13258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577608" y="1403747"/>
            <a:ext cx="73866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30" dirty="0"/>
          </a:p>
        </p:txBody>
      </p:sp>
      <p:sp>
        <p:nvSpPr>
          <p:cNvPr id="28" name="Text 24"/>
          <p:cNvSpPr/>
          <p:nvPr/>
        </p:nvSpPr>
        <p:spPr>
          <a:xfrm>
            <a:off x="6424315" y="1613743"/>
            <a:ext cx="2137410" cy="868077"/>
          </a:xfrm>
          <a:prstGeom prst="rect">
            <a:avLst/>
          </a:prstGeom>
          <a:noFill/>
          <a:ln/>
        </p:spPr>
        <p:txBody>
          <a:bodyPr wrap="square" lIns="12827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84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and Budget are the strongest predictors of mission type — missions with longer durations and higher budgets tend to be deep-space or observatory missions.</a:t>
            </a:r>
            <a:endParaRPr lang="en-US" sz="840" dirty="0"/>
          </a:p>
        </p:txBody>
      </p:sp>
      <p:sp>
        <p:nvSpPr>
          <p:cNvPr id="29" name="Text 25"/>
          <p:cNvSpPr/>
          <p:nvPr/>
        </p:nvSpPr>
        <p:spPr>
          <a:xfrm>
            <a:off x="6257330" y="2749600"/>
            <a:ext cx="2429470" cy="1163687"/>
          </a:xfrm>
          <a:prstGeom prst="roundRect">
            <a:avLst>
              <a:gd name="adj" fmla="val 7421"/>
            </a:avLst>
          </a:prstGeom>
          <a:solidFill>
            <a:srgbClr val="152238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424315" y="2943523"/>
            <a:ext cx="57150" cy="57150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57150" dist="50800" dir="16200000">
              <a:srgbClr val="38bdf8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552456" y="2902595"/>
            <a:ext cx="163039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FEATURES COMBINED</a:t>
            </a:r>
            <a:endParaRPr lang="en-US" sz="730" dirty="0"/>
          </a:p>
        </p:txBody>
      </p:sp>
      <p:sp>
        <p:nvSpPr>
          <p:cNvPr id="32" name="Text 28"/>
          <p:cNvSpPr/>
          <p:nvPr/>
        </p:nvSpPr>
        <p:spPr>
          <a:xfrm>
            <a:off x="6424315" y="3141911"/>
            <a:ext cx="641603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3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2360" dirty="0"/>
          </a:p>
        </p:txBody>
      </p:sp>
      <p:sp>
        <p:nvSpPr>
          <p:cNvPr id="33" name="Text 29"/>
          <p:cNvSpPr/>
          <p:nvPr/>
        </p:nvSpPr>
        <p:spPr>
          <a:xfrm>
            <a:off x="7067104" y="3275261"/>
            <a:ext cx="96442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importance</a:t>
            </a:r>
            <a:endParaRPr lang="en-US" sz="840" dirty="0"/>
          </a:p>
        </p:txBody>
      </p:sp>
      <p:sp>
        <p:nvSpPr>
          <p:cNvPr id="34" name="Text 30"/>
          <p:cNvSpPr/>
          <p:nvPr/>
        </p:nvSpPr>
        <p:spPr>
          <a:xfrm>
            <a:off x="6424315" y="3541961"/>
            <a:ext cx="2095500" cy="57150"/>
          </a:xfrm>
          <a:prstGeom prst="roundRect">
            <a:avLst>
              <a:gd name="adj" fmla="val 51111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424315" y="3541961"/>
            <a:ext cx="1162943" cy="57150"/>
          </a:xfrm>
          <a:prstGeom prst="roundRect">
            <a:avLst>
              <a:gd name="adj" fmla="val 51111"/>
            </a:avLst>
          </a:prstGeom>
          <a:gradFill rotWithShape="1">
            <a:gsLst>
              <a:gs pos="0">
                <a:srgbClr val="0284C7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7587258" y="3541961"/>
            <a:ext cx="932408" cy="57150"/>
          </a:xfrm>
          <a:prstGeom prst="rect">
            <a:avLst/>
          </a:prstGeom>
          <a:gradFill rotWithShape="1">
            <a:gsLst>
              <a:gs pos="0">
                <a:srgbClr val="38BDF8">
                  <a:alpha val="70000"/>
                </a:srgbClr>
              </a:gs>
              <a:gs pos="100000">
                <a:srgbClr val="7DD3FC">
                  <a:alpha val="7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6424315" y="3642271"/>
            <a:ext cx="5765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(0.35)</a:t>
            </a:r>
            <a:endParaRPr lang="en-US" sz="620" dirty="0"/>
          </a:p>
        </p:txBody>
      </p:sp>
      <p:sp>
        <p:nvSpPr>
          <p:cNvPr id="38" name="Text 34"/>
          <p:cNvSpPr/>
          <p:nvPr/>
        </p:nvSpPr>
        <p:spPr>
          <a:xfrm>
            <a:off x="8043565" y="3642271"/>
            <a:ext cx="52387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(0.28)</a:t>
            </a:r>
            <a:endParaRPr lang="en-US" sz="620" dirty="0"/>
          </a:p>
        </p:txBody>
      </p:sp>
      <p:sp>
        <p:nvSpPr>
          <p:cNvPr id="39" name="Text 35"/>
          <p:cNvSpPr/>
          <p:nvPr/>
        </p:nvSpPr>
        <p:spPr>
          <a:xfrm>
            <a:off x="6257330" y="4084737"/>
            <a:ext cx="2429470" cy="849213"/>
          </a:xfrm>
          <a:prstGeom prst="roundRect">
            <a:avLst>
              <a:gd name="adj" fmla="val 10169"/>
            </a:avLst>
          </a:prstGeom>
          <a:solidFill>
            <a:srgbClr val="152238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424315" y="4231928"/>
            <a:ext cx="87650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TYPES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6424315" y="4477941"/>
            <a:ext cx="70991" cy="70991"/>
          </a:xfrm>
          <a:prstGeom prst="roundRect">
            <a:avLst>
              <a:gd name="adj" fmla="val 3041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6566297" y="4438204"/>
            <a:ext cx="93086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Numeric features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8339584" y="4443859"/>
            <a:ext cx="19825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730" dirty="0"/>
          </a:p>
        </p:txBody>
      </p:sp>
      <p:sp>
        <p:nvSpPr>
          <p:cNvPr id="44" name="Text 40"/>
          <p:cNvSpPr/>
          <p:nvPr/>
        </p:nvSpPr>
        <p:spPr>
          <a:xfrm>
            <a:off x="6424315" y="4685556"/>
            <a:ext cx="70991" cy="70991"/>
          </a:xfrm>
          <a:prstGeom prst="roundRect">
            <a:avLst>
              <a:gd name="adj" fmla="val 30412"/>
            </a:avLst>
          </a:prstGeom>
          <a:solidFill>
            <a:srgbClr val="7DD3FC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6566297" y="4645819"/>
            <a:ext cx="102286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Categorical feature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8339584" y="4651474"/>
            <a:ext cx="19825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730" dirty="0"/>
          </a:p>
        </p:txBody>
      </p:sp>
      <p:sp>
        <p:nvSpPr>
          <p:cNvPr id="47" name="Text 43"/>
          <p:cNvSpPr/>
          <p:nvPr/>
        </p:nvSpPr>
        <p:spPr>
          <a:xfrm>
            <a:off x="1958280" y="1402556"/>
            <a:ext cx="4013302" cy="271760"/>
          </a:xfrm>
          <a:prstGeom prst="roundRect">
            <a:avLst>
              <a:gd name="adj" fmla="val 21030"/>
            </a:avLst>
          </a:prstGeom>
          <a:gradFill rotWithShape="1">
            <a:gsLst>
              <a:gs pos="0">
                <a:srgbClr val="0C4A6E"/>
              </a:gs>
              <a:gs pos="40000">
                <a:srgbClr val="0284C7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1958280" y="1831777"/>
            <a:ext cx="3210516" cy="271760"/>
          </a:xfrm>
          <a:prstGeom prst="roundRect">
            <a:avLst>
              <a:gd name="adj" fmla="val 21030"/>
            </a:avLst>
          </a:prstGeom>
          <a:gradFill rotWithShape="1">
            <a:gsLst>
              <a:gs pos="0">
                <a:srgbClr val="0C4A6E"/>
              </a:gs>
              <a:gs pos="40000">
                <a:srgbClr val="0284C7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1958280" y="2260997"/>
            <a:ext cx="2062753" cy="271760"/>
          </a:xfrm>
          <a:prstGeom prst="roundRect">
            <a:avLst>
              <a:gd name="adj" fmla="val 21030"/>
            </a:avLst>
          </a:prstGeom>
          <a:gradFill rotWithShape="1">
            <a:gsLst>
              <a:gs pos="0">
                <a:srgbClr val="0C4A6E"/>
              </a:gs>
              <a:gs pos="40000">
                <a:srgbClr val="0284C7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1958280" y="2690217"/>
            <a:ext cx="1376515" cy="271760"/>
          </a:xfrm>
          <a:prstGeom prst="roundRect">
            <a:avLst>
              <a:gd name="adj" fmla="val 21030"/>
            </a:avLst>
          </a:prstGeom>
          <a:gradFill rotWithShape="1">
            <a:gsLst>
              <a:gs pos="0">
                <a:srgbClr val="0C4A6E"/>
              </a:gs>
              <a:gs pos="40000">
                <a:srgbClr val="0284C7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1958280" y="3119438"/>
            <a:ext cx="802630" cy="271760"/>
          </a:xfrm>
          <a:prstGeom prst="roundRect">
            <a:avLst>
              <a:gd name="adj" fmla="val 21030"/>
            </a:avLst>
          </a:prstGeom>
          <a:gradFill rotWithShape="1">
            <a:gsLst>
              <a:gs pos="0">
                <a:srgbClr val="0C4A6E"/>
              </a:gs>
              <a:gs pos="40000">
                <a:srgbClr val="0284C7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6266855" y="1361966"/>
            <a:ext cx="21580" cy="1120378"/>
          </a:xfrm>
          <a:prstGeom prst="roundRect">
            <a:avLst>
              <a:gd name="adj" fmla="val 100046"/>
            </a:avLst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2070"/>
            <a:ext cx="34290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30411"/>
            <a:ext cx="880567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spcAft>
                <a:spcPts val="230"/>
              </a:spcAft>
              <a:buNone/>
            </a:pPr>
            <a:r>
              <a:rPr lang="en-US" sz="2250" b="1" spc="-30" kern="0" dirty="0">
                <a:solidFill>
                  <a:srgbClr val="E8ED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888206"/>
            <a:ext cx="9052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project results and insights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72034"/>
            <a:ext cx="2638127" cy="1543199"/>
          </a:xfrm>
          <a:prstGeom prst="roundRect">
            <a:avLst>
              <a:gd name="adj" fmla="val 6501"/>
            </a:avLst>
          </a:prstGeom>
          <a:solidFill>
            <a:srgbClr val="152238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03314" y="1381869"/>
            <a:ext cx="2721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8BDF8">
                    <a:alpha val="9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8175" y="1482179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122" y="1584127"/>
            <a:ext cx="139005" cy="1390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8175" y="1896070"/>
            <a:ext cx="2503795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spc="1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Accuracy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638175" y="2149822"/>
            <a:ext cx="2321701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achieved 1.00 accuracy on the synthetic dataset, correctly classifying all 6 mission types with zero misclassifications.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3252788" y="1272034"/>
            <a:ext cx="2638276" cy="1543199"/>
          </a:xfrm>
          <a:prstGeom prst="roundRect">
            <a:avLst>
              <a:gd name="adj" fmla="val 6501"/>
            </a:avLst>
          </a:prstGeom>
          <a:solidFill>
            <a:srgbClr val="152238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499050" y="1381869"/>
            <a:ext cx="2721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8BDF8">
                    <a:alpha val="9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33763" y="1482179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35710" y="1584127"/>
            <a:ext cx="139005" cy="1390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33763" y="1896070"/>
            <a:ext cx="250395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spc="1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Preprocessing</a:t>
            </a:r>
            <a:endParaRPr lang="en-US" sz="960" dirty="0"/>
          </a:p>
        </p:txBody>
      </p:sp>
      <p:sp>
        <p:nvSpPr>
          <p:cNvPr id="16" name="Text 12"/>
          <p:cNvSpPr/>
          <p:nvPr/>
        </p:nvSpPr>
        <p:spPr>
          <a:xfrm>
            <a:off x="3433763" y="2149822"/>
            <a:ext cx="2321853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efficiently transformed categorical features (Destination) into numeric format for full ML compatibility.</a:t>
            </a:r>
            <a:endParaRPr lang="en-US" sz="820" dirty="0"/>
          </a:p>
        </p:txBody>
      </p:sp>
      <p:sp>
        <p:nvSpPr>
          <p:cNvPr id="17" name="Text 13"/>
          <p:cNvSpPr/>
          <p:nvPr/>
        </p:nvSpPr>
        <p:spPr>
          <a:xfrm>
            <a:off x="6048524" y="1272034"/>
            <a:ext cx="2638127" cy="1543199"/>
          </a:xfrm>
          <a:prstGeom prst="roundRect">
            <a:avLst>
              <a:gd name="adj" fmla="val 6501"/>
            </a:avLst>
          </a:prstGeom>
          <a:solidFill>
            <a:srgbClr val="152238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8294638" y="1381869"/>
            <a:ext cx="2721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8BDF8">
                    <a:alpha val="9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229499" y="1482179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1446" y="1584127"/>
            <a:ext cx="139005" cy="13900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29499" y="1896070"/>
            <a:ext cx="2503795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spc="1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Power</a:t>
            </a:r>
            <a:endParaRPr lang="en-US" sz="960" dirty="0"/>
          </a:p>
        </p:txBody>
      </p:sp>
      <p:sp>
        <p:nvSpPr>
          <p:cNvPr id="22" name="Text 17"/>
          <p:cNvSpPr/>
          <p:nvPr/>
        </p:nvSpPr>
        <p:spPr>
          <a:xfrm>
            <a:off x="6229499" y="2149822"/>
            <a:ext cx="2321701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 with bootstrap sampling and majority voting ensured robust, reliable classification performance.</a:t>
            </a:r>
            <a:endParaRPr lang="en-US" sz="820" dirty="0"/>
          </a:p>
        </p:txBody>
      </p:sp>
      <p:sp>
        <p:nvSpPr>
          <p:cNvPr id="23" name="Text 18"/>
          <p:cNvSpPr/>
          <p:nvPr/>
        </p:nvSpPr>
        <p:spPr>
          <a:xfrm>
            <a:off x="1964680" y="2972693"/>
            <a:ext cx="2528441" cy="1543199"/>
          </a:xfrm>
          <a:prstGeom prst="roundRect">
            <a:avLst>
              <a:gd name="adj" fmla="val 6501"/>
            </a:avLst>
          </a:prstGeom>
          <a:solidFill>
            <a:srgbClr val="152238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101108" y="3082528"/>
            <a:ext cx="2721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8BDF8">
                    <a:alpha val="9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2145655" y="3182838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47602" y="3284786"/>
            <a:ext cx="139005" cy="13900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145655" y="3596729"/>
            <a:ext cx="238314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spc="1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Pipeline</a:t>
            </a:r>
            <a:endParaRPr lang="en-US" sz="960" dirty="0"/>
          </a:p>
        </p:txBody>
      </p:sp>
      <p:sp>
        <p:nvSpPr>
          <p:cNvPr id="28" name="Text 22"/>
          <p:cNvSpPr/>
          <p:nvPr/>
        </p:nvSpPr>
        <p:spPr>
          <a:xfrm>
            <a:off x="2145655" y="3850481"/>
            <a:ext cx="2209821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raw CSV to predictions with minimal preprocessing steps and clear modular structure.</a:t>
            </a:r>
            <a:endParaRPr lang="en-US" sz="820" dirty="0"/>
          </a:p>
        </p:txBody>
      </p:sp>
      <p:sp>
        <p:nvSpPr>
          <p:cNvPr id="29" name="Text 23"/>
          <p:cNvSpPr/>
          <p:nvPr/>
        </p:nvSpPr>
        <p:spPr>
          <a:xfrm>
            <a:off x="4650581" y="2972693"/>
            <a:ext cx="2528590" cy="1543199"/>
          </a:xfrm>
          <a:prstGeom prst="roundRect">
            <a:avLst>
              <a:gd name="adj" fmla="val 6501"/>
            </a:avLst>
          </a:prstGeom>
          <a:solidFill>
            <a:srgbClr val="152238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6787158" y="3082528"/>
            <a:ext cx="2721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8BDF8">
                    <a:alpha val="9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4831556" y="3182838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33504" y="3284786"/>
            <a:ext cx="139005" cy="13900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831556" y="3596729"/>
            <a:ext cx="238330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spc="1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960" dirty="0"/>
          </a:p>
        </p:txBody>
      </p:sp>
      <p:sp>
        <p:nvSpPr>
          <p:cNvPr id="34" name="Text 27"/>
          <p:cNvSpPr/>
          <p:nvPr/>
        </p:nvSpPr>
        <p:spPr>
          <a:xfrm>
            <a:off x="4831556" y="3850481"/>
            <a:ext cx="2209973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 reveals Duration and Budget as the top predictors of mission type classification.</a:t>
            </a:r>
            <a:endParaRPr lang="en-US" sz="820" dirty="0"/>
          </a:p>
        </p:txBody>
      </p:sp>
      <p:sp>
        <p:nvSpPr>
          <p:cNvPr id="35" name="Text 28"/>
          <p:cNvSpPr/>
          <p:nvPr/>
        </p:nvSpPr>
        <p:spPr>
          <a:xfrm>
            <a:off x="457200" y="4789140"/>
            <a:ext cx="3191917" cy="7590"/>
          </a:xfrm>
          <a:prstGeom prst="rect">
            <a:avLst/>
          </a:prstGeom>
          <a:gradFill rotWithShape="1">
            <a:gsLst>
              <a:gs pos="0">
                <a:srgbClr val="38BDF8">
                  <a:alpha val="25000"/>
                </a:srgbClr>
              </a:gs>
              <a:gs pos="100000">
                <a:srgbClr val="38BDF8">
                  <a:alpha val="4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3735437" y="4728270"/>
            <a:ext cx="184043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MISSION CLASSIFICATION AI</a:t>
            </a:r>
            <a:endParaRPr lang="en-US" sz="680" dirty="0"/>
          </a:p>
        </p:txBody>
      </p:sp>
      <p:sp>
        <p:nvSpPr>
          <p:cNvPr id="37" name="Text 30"/>
          <p:cNvSpPr/>
          <p:nvPr/>
        </p:nvSpPr>
        <p:spPr>
          <a:xfrm>
            <a:off x="5494883" y="4789140"/>
            <a:ext cx="3191917" cy="7590"/>
          </a:xfrm>
          <a:prstGeom prst="rect">
            <a:avLst/>
          </a:prstGeom>
          <a:gradFill rotWithShape="1">
            <a:gsLst>
              <a:gs pos="0">
                <a:srgbClr val="38BDF8">
                  <a:alpha val="4000"/>
                </a:srgbClr>
              </a:gs>
              <a:gs pos="100000">
                <a:srgbClr val="38BDF8">
                  <a:alpha val="2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466725" y="1281559"/>
            <a:ext cx="2619080" cy="21580"/>
          </a:xfrm>
          <a:custGeom>
            <a:avLst/>
            <a:gdLst/>
            <a:ahLst/>
            <a:cxnLst/>
            <a:rect l="l" t="t" r="r" b="b"/>
            <a:pathLst>
              <a:path w="2619080" h="21580">
                <a:moveTo>
                  <a:pt x="100330" y="0"/>
                </a:moveTo>
                <a:lnTo>
                  <a:pt x="2518750" y="0"/>
                </a:lnTo>
                <a:lnTo>
                  <a:pt x="2541859" y="2698"/>
                </a:lnTo>
                <a:lnTo>
                  <a:pt x="2551207" y="5395"/>
                </a:lnTo>
                <a:lnTo>
                  <a:pt x="2558226" y="8093"/>
                </a:lnTo>
                <a:lnTo>
                  <a:pt x="2564013" y="10790"/>
                </a:lnTo>
                <a:lnTo>
                  <a:pt x="2568994" y="13488"/>
                </a:lnTo>
                <a:lnTo>
                  <a:pt x="2573392" y="16185"/>
                </a:lnTo>
                <a:lnTo>
                  <a:pt x="2577337" y="18883"/>
                </a:lnTo>
                <a:lnTo>
                  <a:pt x="2580915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3262313" y="1281559"/>
            <a:ext cx="2619223" cy="21580"/>
          </a:xfrm>
          <a:custGeom>
            <a:avLst/>
            <a:gdLst/>
            <a:ahLst/>
            <a:cxnLst/>
            <a:rect l="l" t="t" r="r" b="b"/>
            <a:pathLst>
              <a:path w="2619223" h="21580">
                <a:moveTo>
                  <a:pt x="100330" y="0"/>
                </a:moveTo>
                <a:lnTo>
                  <a:pt x="2518893" y="0"/>
                </a:lnTo>
                <a:lnTo>
                  <a:pt x="2542001" y="2698"/>
                </a:lnTo>
                <a:lnTo>
                  <a:pt x="2551350" y="5395"/>
                </a:lnTo>
                <a:lnTo>
                  <a:pt x="2558369" y="8093"/>
                </a:lnTo>
                <a:lnTo>
                  <a:pt x="2564155" y="10790"/>
                </a:lnTo>
                <a:lnTo>
                  <a:pt x="2569137" y="13488"/>
                </a:lnTo>
                <a:lnTo>
                  <a:pt x="2573535" y="16185"/>
                </a:lnTo>
                <a:lnTo>
                  <a:pt x="2577480" y="18883"/>
                </a:lnTo>
                <a:lnTo>
                  <a:pt x="258105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6058049" y="1281559"/>
            <a:ext cx="2619080" cy="21580"/>
          </a:xfrm>
          <a:custGeom>
            <a:avLst/>
            <a:gdLst/>
            <a:ahLst/>
            <a:cxnLst/>
            <a:rect l="l" t="t" r="r" b="b"/>
            <a:pathLst>
              <a:path w="2619080" h="21580">
                <a:moveTo>
                  <a:pt x="100330" y="0"/>
                </a:moveTo>
                <a:lnTo>
                  <a:pt x="2518750" y="0"/>
                </a:lnTo>
                <a:lnTo>
                  <a:pt x="2541859" y="2698"/>
                </a:lnTo>
                <a:lnTo>
                  <a:pt x="2551207" y="5395"/>
                </a:lnTo>
                <a:lnTo>
                  <a:pt x="2558226" y="8093"/>
                </a:lnTo>
                <a:lnTo>
                  <a:pt x="2564013" y="10790"/>
                </a:lnTo>
                <a:lnTo>
                  <a:pt x="2568994" y="13488"/>
                </a:lnTo>
                <a:lnTo>
                  <a:pt x="2573392" y="16185"/>
                </a:lnTo>
                <a:lnTo>
                  <a:pt x="2577337" y="18883"/>
                </a:lnTo>
                <a:lnTo>
                  <a:pt x="2580915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1974205" y="2982218"/>
            <a:ext cx="2509390" cy="21580"/>
          </a:xfrm>
          <a:custGeom>
            <a:avLst/>
            <a:gdLst/>
            <a:ahLst/>
            <a:cxnLst/>
            <a:rect l="l" t="t" r="r" b="b"/>
            <a:pathLst>
              <a:path w="2509390" h="21580">
                <a:moveTo>
                  <a:pt x="100330" y="0"/>
                </a:moveTo>
                <a:lnTo>
                  <a:pt x="2409060" y="0"/>
                </a:lnTo>
                <a:lnTo>
                  <a:pt x="2432169" y="2698"/>
                </a:lnTo>
                <a:lnTo>
                  <a:pt x="2441517" y="5395"/>
                </a:lnTo>
                <a:lnTo>
                  <a:pt x="2448536" y="8093"/>
                </a:lnTo>
                <a:lnTo>
                  <a:pt x="2454323" y="10790"/>
                </a:lnTo>
                <a:lnTo>
                  <a:pt x="2459304" y="13488"/>
                </a:lnTo>
                <a:lnTo>
                  <a:pt x="2463702" y="16185"/>
                </a:lnTo>
                <a:lnTo>
                  <a:pt x="2467647" y="18883"/>
                </a:lnTo>
                <a:lnTo>
                  <a:pt x="2471226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4660106" y="2982218"/>
            <a:ext cx="2509542" cy="21580"/>
          </a:xfrm>
          <a:custGeom>
            <a:avLst/>
            <a:gdLst/>
            <a:ahLst/>
            <a:cxnLst/>
            <a:rect l="l" t="t" r="r" b="b"/>
            <a:pathLst>
              <a:path w="2509542" h="21580">
                <a:moveTo>
                  <a:pt x="100330" y="0"/>
                </a:moveTo>
                <a:lnTo>
                  <a:pt x="2409213" y="0"/>
                </a:lnTo>
                <a:lnTo>
                  <a:pt x="2432321" y="2698"/>
                </a:lnTo>
                <a:lnTo>
                  <a:pt x="2441669" y="5395"/>
                </a:lnTo>
                <a:lnTo>
                  <a:pt x="2448688" y="8093"/>
                </a:lnTo>
                <a:lnTo>
                  <a:pt x="2454475" y="10790"/>
                </a:lnTo>
                <a:lnTo>
                  <a:pt x="2459457" y="13488"/>
                </a:lnTo>
                <a:lnTo>
                  <a:pt x="2463854" y="16185"/>
                </a:lnTo>
                <a:lnTo>
                  <a:pt x="2467799" y="18883"/>
                </a:lnTo>
                <a:lnTo>
                  <a:pt x="247137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3841" cy="13841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  <a:effectLst>
            <a:outerShdw sx="100000" sy="100000" kx="0" ky="0" algn="bl" rotWithShape="0" blurRad="101600" dist="1030286" dir="2040000">
              <a:srgbClr val="ffffff">
                <a:alpha val="12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91257"/>
            <a:ext cx="314920" cy="314920"/>
          </a:xfrm>
          <a:prstGeom prst="roundRect">
            <a:avLst>
              <a:gd name="adj" fmla="val 22584"/>
            </a:avLst>
          </a:prstGeom>
          <a:gradFill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366" y="382423"/>
            <a:ext cx="132588" cy="132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6420" y="285750"/>
            <a:ext cx="3562017" cy="326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568"/>
              </a:lnSpc>
              <a:buNone/>
            </a:pPr>
            <a:r>
              <a:rPr lang="en-US" sz="2140" b="1" spc="-30" kern="0" dirty="0">
                <a:solidFill>
                  <a:srgbClr val="E8EDF4"/>
                </a:solidFill>
                <a:latin typeface="Corbel" altFont="Arial" pitchFamily="34" charset="0"/>
                <a:ea typeface="Corbel" altFont="Arial" pitchFamily="34" charset="-122"/>
                <a:cs typeface="Corbel" altFont="Arial" pitchFamily="34" charset="-120"/>
              </a:rPr>
              <a:t>Future Work &amp; Conclusion</a:t>
            </a:r>
            <a:endParaRPr lang="en-US" sz="214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69" y="815661"/>
            <a:ext cx="132588" cy="132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812453"/>
            <a:ext cx="155934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730" dirty="0"/>
          </a:p>
        </p:txBody>
      </p:sp>
      <p:sp>
        <p:nvSpPr>
          <p:cNvPr id="8" name="Text 4"/>
          <p:cNvSpPr/>
          <p:nvPr/>
        </p:nvSpPr>
        <p:spPr>
          <a:xfrm>
            <a:off x="457200" y="1079599"/>
            <a:ext cx="342900" cy="2158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00980" y="1244650"/>
            <a:ext cx="2865269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real NASA mission data from public APIs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1266230"/>
            <a:ext cx="157460" cy="157460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562" y="1278591"/>
            <a:ext cx="132588" cy="132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0980" y="1510010"/>
            <a:ext cx="38576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features: launch vehicle, mission phase, orbital parameters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57200" y="1531590"/>
            <a:ext cx="157460" cy="157460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9562" y="1543952"/>
            <a:ext cx="132588" cy="132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0980" y="1775371"/>
            <a:ext cx="3598530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other classifiers: SVM, XGBoost, Neural Networks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57200" y="1796951"/>
            <a:ext cx="157460" cy="157460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562" y="1809312"/>
            <a:ext cx="132588" cy="132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0980" y="2040731"/>
            <a:ext cx="2990999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cross-validation for more robust evaluation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457200" y="2062311"/>
            <a:ext cx="157460" cy="157460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562" y="2074673"/>
            <a:ext cx="132588" cy="1325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0980" y="2306092"/>
            <a:ext cx="2522786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web app using Flask or Streamlit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457200" y="2327672"/>
            <a:ext cx="157460" cy="157460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9562" y="2340034"/>
            <a:ext cx="132588" cy="1325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568130" y="812453"/>
            <a:ext cx="7590" cy="3477816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95189" y="815661"/>
            <a:ext cx="132588" cy="13258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061496" y="812453"/>
            <a:ext cx="83820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730" dirty="0"/>
          </a:p>
        </p:txBody>
      </p:sp>
      <p:sp>
        <p:nvSpPr>
          <p:cNvPr id="27" name="Text 17"/>
          <p:cNvSpPr/>
          <p:nvPr/>
        </p:nvSpPr>
        <p:spPr>
          <a:xfrm>
            <a:off x="4918621" y="1079599"/>
            <a:ext cx="342900" cy="2158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18"/>
          <p:cNvSpPr/>
          <p:nvPr/>
        </p:nvSpPr>
        <p:spPr>
          <a:xfrm>
            <a:off x="4918621" y="1244650"/>
            <a:ext cx="3768179" cy="3045619"/>
          </a:xfrm>
          <a:prstGeom prst="roundRect">
            <a:avLst>
              <a:gd name="adj" fmla="val 2836"/>
            </a:avLst>
          </a:prstGeom>
          <a:gradFill rotWithShape="1">
            <a:gsLst>
              <a:gs pos="0">
                <a:srgbClr val="38BDF8">
                  <a:alpha val="8000"/>
                </a:srgbClr>
              </a:gs>
              <a:gs pos="100000">
                <a:srgbClr val="152238">
                  <a:alpha val="90000"/>
                </a:srgbClr>
              </a:gs>
            </a:gsLst>
            <a:lin ang="2700000" scaled="1"/>
          </a:gra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19"/>
          <p:cNvSpPr/>
          <p:nvPr/>
        </p:nvSpPr>
        <p:spPr>
          <a:xfrm>
            <a:off x="5099596" y="1425625"/>
            <a:ext cx="3474354" cy="989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 ML classification pipeline applied to NASA space mission data. The RandomForestClassifier provides a strong baseline with perfect accuracy on synthetic data, and the modular pipeline is ready for extension to real-world datasets.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5099596" y="2539901"/>
            <a:ext cx="1059210" cy="566264"/>
          </a:xfrm>
          <a:prstGeom prst="roundRect">
            <a:avLst>
              <a:gd name="adj" fmla="val 10092"/>
            </a:avLst>
          </a:prstGeom>
          <a:solidFill>
            <a:srgbClr val="38BDF8">
              <a:alpha val="6000"/>
            </a:srgbClr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lIns="86360" tIns="100330" rIns="86360" bIns="10033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endParaRPr lang="en-US" sz="13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Types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6273105" y="2539901"/>
            <a:ext cx="1059210" cy="566264"/>
          </a:xfrm>
          <a:prstGeom prst="roundRect">
            <a:avLst>
              <a:gd name="adj" fmla="val 10092"/>
            </a:avLst>
          </a:prstGeom>
          <a:solidFill>
            <a:srgbClr val="38BDF8">
              <a:alpha val="6000"/>
            </a:srgbClr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lIns="86360" tIns="100330" rIns="86360" bIns="10033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pPr algn="ctr" indent="0" marL="0">
              <a:buNone/>
            </a:pPr>
            <a:endParaRPr lang="en-US" sz="13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50" dirty="0"/>
          </a:p>
        </p:txBody>
      </p:sp>
      <p:sp>
        <p:nvSpPr>
          <p:cNvPr id="32" name="Text 22"/>
          <p:cNvSpPr/>
          <p:nvPr/>
        </p:nvSpPr>
        <p:spPr>
          <a:xfrm>
            <a:off x="7446615" y="2539901"/>
            <a:ext cx="1059210" cy="566264"/>
          </a:xfrm>
          <a:prstGeom prst="roundRect">
            <a:avLst>
              <a:gd name="adj" fmla="val 10092"/>
            </a:avLst>
          </a:prstGeom>
          <a:solidFill>
            <a:srgbClr val="38BDF8">
              <a:alpha val="6000"/>
            </a:srgbClr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lIns="86360" tIns="100330" rIns="86360" bIns="10033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pPr algn="ctr" indent="0" marL="0">
              <a:buNone/>
            </a:pPr>
            <a:endParaRPr lang="en-US" sz="13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350" dirty="0"/>
          </a:p>
        </p:txBody>
      </p:sp>
      <p:sp>
        <p:nvSpPr>
          <p:cNvPr id="33" name="Text 23"/>
          <p:cNvSpPr/>
          <p:nvPr/>
        </p:nvSpPr>
        <p:spPr>
          <a:xfrm>
            <a:off x="3857625" y="4290268"/>
            <a:ext cx="142875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4"/>
          <p:cNvSpPr/>
          <p:nvPr/>
        </p:nvSpPr>
        <p:spPr>
          <a:xfrm>
            <a:off x="3429233" y="4398169"/>
            <a:ext cx="1184950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70"/>
              </a:lnSpc>
              <a:buNone/>
            </a:pPr>
            <a:r>
              <a:rPr lang="en-US" sz="15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580" dirty="0"/>
          </a:p>
        </p:txBody>
      </p:sp>
      <p:sp>
        <p:nvSpPr>
          <p:cNvPr id="35" name="Text 25"/>
          <p:cNvSpPr/>
          <p:nvPr/>
        </p:nvSpPr>
        <p:spPr>
          <a:xfrm>
            <a:off x="4626249" y="4398169"/>
            <a:ext cx="1085103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370"/>
              </a:lnSpc>
              <a:buNone/>
            </a:pPr>
            <a:r>
              <a:rPr lang="en-US" sz="158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80" dirty="0"/>
          </a:p>
        </p:txBody>
      </p:sp>
      <p:sp>
        <p:nvSpPr>
          <p:cNvPr id="36" name="Text 26"/>
          <p:cNvSpPr/>
          <p:nvPr/>
        </p:nvSpPr>
        <p:spPr>
          <a:xfrm>
            <a:off x="45720" y="4756249"/>
            <a:ext cx="905256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680" spc="60" kern="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Aima | Spring 2026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docgen</cp:lastModifiedBy>
  <cp:revision>1</cp:revision>
  <dcterms:created xsi:type="dcterms:W3CDTF">2026-04-27T03:28:40Z</dcterms:created>
  <dcterms:modified xsi:type="dcterms:W3CDTF">2026-04-27T03:28:40Z</dcterms:modified>
</cp:coreProperties>
</file>